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Lst>
  <p:notesMasterIdLst>
    <p:notesMasterId r:id="rId7"/>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notesMaster" Target="notesMasters/notesMaster1.xml"/><Relationship Id="rId8" Type="http://schemas.openxmlformats.org/officeDocument/2006/relationships/presProps" Target="presProps.xml"/><Relationship Id="rId9" Type="http://schemas.openxmlformats.org/officeDocument/2006/relationships/viewProps" Target="viewProps.xml"/><Relationship Id="rId10" Type="http://schemas.openxmlformats.org/officeDocument/2006/relationships/theme" Target="theme/theme1.xml"/><Relationship Id="rId11"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When production breaks, one incident can generate thousands of signals across logs, metrics, traces, alerts, deployments, config changes, dependencies and past incidents. The on-call engineer has to jump between all of these tools by hand, often at night, to answer four questions: what happened, why, what is impacted and what to do next. Alert floods hide the real cause, and first-guess conclusions, like blaming a recent deploy that is actually innocent, waste time. The primary user is the on-call SRE, but engineering managers, business owners and end customers all feel the impact.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Our answer is an AI investigator that shows its work. It follows the required chain: evidence, timeline, hypotheses, investigation, root cause, recovery plan and verification, and it replans whenever new evidence arrives or a fix fails. Four things set it apart: it keeps several competing hypotheses alive, every claim cites evidence IDs, confidence is computed in code rather than by LLM opinion, and production-impacting actions always need human approval. Under the hood it is hybrid: statistics detect anomalies, LLM agents reason and plan, and plain code scores, verifies and enforces guardrails.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architecture, left to right. Simulated evidence from scenario folders is loaded into an evidence store where every item gets an ID, then plain code builds the timeline and detects anomalies against statistical baselines. Four LLM agents do the reasoning: an orchestrator that plans checks, calls tools and replans, a hypothesis agent that proposes three to five competing causes, an evidence evaluator that marks evidence as supporting, contradicting or neutral, and a remediation agent that ranks fixes with rollback. A confidence engine in plain code declares a root cause only if one is clearly ahead; nothing production-impacting runs without the human approval gate, then a dry-run, then verification. The feedback loop is our dynamic adaptation: new evidence or a failed fix sends the orchestrator back to replan. The prototype runs on simulated incidents and works on any scenario folder with the same file schema, with no code changes.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what the engineer sees, drawn as an illustrative simulated incident. The timeline shows a config change on the orders service shortly before connection pool errors and checkout latency. The hypothesis board keeps four causes alive, with the leading one backed by supporting evidence in green and a contradicting item in red, while the recent deploy is rejected because it is not on the checkout path and its timing does not fit. The fix is proposed on an approval card with risk and rollback, and recovery is verified against baseline metrics. Compared with manual log-hopping and one early guess, the engineer gets competing hypotheses, evidence for and against, an approved fix and verified recovery. Optionally replace the mock dashboard with a real prototype screenshot.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business case. The primary users are on-call SREs and platform engineers; the economic buyers are CTOs, CIOs, VPs of Engineering and heads of IT operations or reliability, with security and compliance teams as influencers because of the audit trail. It fits managed-service providers, banking and fintech, e-commerce, telecom, SaaS, healthcare platforms and large microservice enterprises. Unlike tools that stop at alert correlation, ours reasons through competing hypotheses, adapts when it is wrong and keeps a human in control. The impact model is a simple formula whose inputs are customer-specific. Not another alert: an investigator that shows its work.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image" Target="../media/MAIN-image-1.png"/><Relationship Id="rId2"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MAIN">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Text 0"/>
          <p:cNvSpPr/>
          <p:nvPr>
            <p:ph idx="100" type="title" hasCustomPrompt="1"/>
          </p:nvPr>
        </p:nvSpPr>
        <p:spPr>
          <a:xfrm>
            <a:off x="457200" y="320040"/>
            <a:ext cx="11274552" cy="914400"/>
          </a:xfrm>
          <a:prstGeom prst="rect">
            <a:avLst/>
          </a:prstGeom>
          <a:noFill/>
          <a:ln/>
        </p:spPr>
        <p:txBody>
          <a:bodyPr wrap="square" rtlCol="0"/>
          <a:lstStyle>
            <a:lvl1pPr algn="l" indent="0" marL="0">
              <a:buNone/>
              <a:defRPr lang="en-US" sz="2800" dirty="0">
                <a:solidFill>
                  <a:srgbClr val="0B1026"/>
                </a:solidFill>
                <a:latin typeface="Segoe UI Semibold" pitchFamily="34" charset="0"/>
                <a:ea typeface="Segoe UI Semibold" pitchFamily="34" charset="-122"/>
                <a:cs typeface="Segoe UI Semibold" pitchFamily="34" charset="-120"/>
              </a:defRPr>
            </a:lvl1pPr>
          </a:lstStyle>
          <a:p>
            <a:pPr algn="l" indent="0" marL="0">
              <a:buNone/>
            </a:pPr>
            <a:endParaRPr lang="en-US" sz="2800" dirty="0"/>
          </a:p>
        </p:txBody>
      </p:sp>
      <p:sp>
        <p:nvSpPr>
          <p:cNvPr id="3" name="Text 0"/>
          <p:cNvSpPr/>
          <p:nvPr/>
        </p:nvSpPr>
        <p:spPr>
          <a:xfrm>
            <a:off x="457200" y="6492240"/>
            <a:ext cx="7315200" cy="256032"/>
          </a:xfrm>
          <a:prstGeom prst="rect">
            <a:avLst/>
          </a:prstGeom>
          <a:noFill/>
          <a:ln/>
        </p:spPr>
        <p:txBody>
          <a:bodyPr wrap="square" lIns="0" tIns="0" rIns="0" bIns="0" rtlCol="0" anchor="ctr"/>
          <a:lstStyle/>
          <a:p>
            <a:pPr indent="0" marL="0">
              <a:buNone/>
            </a:pPr>
            <a:r>
              <a:rPr lang="en-US" sz="1000" dirty="0">
                <a:solidFill>
                  <a:srgbClr val="4A5578"/>
                </a:solidFill>
              </a:rPr>
              <a:t>AI Innovation Hackathon 2026 | Challenge 01 | D365</a:t>
            </a:r>
            <a:endParaRPr lang="en-US" sz="1000" dirty="0"/>
          </a:p>
        </p:txBody>
      </p:sp>
      <p:sp>
        <p:nvSpPr>
          <p:cNvPr id="25" name="Slide Number Placeholder 0"/>
          <p:cNvSpPr>
            <a:spLocks noGrp="1"/>
          </p:cNvSpPr>
          <p:nvPr>
            <p:ph type="sldNum" sz="quarter" idx="4294967295"/>
          </p:nvPr>
        </p:nvSpPr>
        <p:spPr>
          <a:xfrm>
            <a:off x="11000232" y="6492240"/>
            <a:ext cx="731520" cy="256032"/>
          </a:xfrm>
          <a:prstGeom prst="rect">
            <a:avLst/>
          </a:prstGeom>
          <a:extLst>
            <a:ext uri="{C572A759-6A51-4108-AA02-DFA0A04FC94B}">
              <ma14:wrappingTextBoxFlag xmlns:ma14="http://schemas.microsoft.com/office/mac/drawingml/2011/main" val="0"/>
            </a:ext>
          </a:extLst>
        </p:spPr>
        <p:txBody>
          <a:bodyPr anchor="ctr"/>
          <a:lstStyle>
            <a:lvl1pPr>
              <a:defRPr sz="1000">
                <a:solidFill>
                  <a:srgbClr val="4A5578"/>
                </a:solidFill>
              </a:defRPr>
            </a:lvl1pPr>
          </a:lstStyle>
          <a:p>
            <a:pPr algn="r"/>
            <a:fld id="{F7021451-1387-4CA6-816F-3879F97B5CBC}" type="slidenum">
              <a:rPr b="0" lang="en-US"/>
              <a:t>1002</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000232" y="6492240"/>
            <a:ext cx="731520" cy="256032"/>
          </a:xfrm>
          <a:prstGeom prst="rect">
            <a:avLst/>
          </a:prstGeom>
          <a:extLst>
            <a:ext uri="{C572A759-6A51-4108-AA02-DFA0A04FC94B}">
              <ma14:wrappingTextBoxFlag xmlns:ma14="http://schemas.microsoft.com/office/mac/drawingml/2011/main" val="0"/>
            </a:ext>
          </a:extLst>
        </p:spPr>
        <p:txBody>
          <a:bodyPr anchor="ctr"/>
          <a:lstStyle>
            <a:lvl1pPr>
              <a:defRPr sz="1000">
                <a:solidFill>
                  <a:srgbClr val="4A5578"/>
                </a:solidFill>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p:nvPr>
            <p:ph idx="100" type="title" hasCustomPrompt="1"/>
          </p:nvPr>
        </p:nvSpPr>
        <p:spPr>
          <a:xfrm>
            <a:off x="457200" y="320040"/>
            <a:ext cx="11274552" cy="914400"/>
          </a:xfrm>
          <a:prstGeom prst="rect">
            <a:avLst/>
          </a:prstGeom>
          <a:noFill/>
          <a:ln/>
        </p:spPr>
        <p:txBody>
          <a:bodyPr wrap="square" lIns="0" tIns="0" rIns="0" bIns="0" rtlCol="0" anchor="b"/>
          <a:lstStyle/>
          <a:p>
            <a:pPr algn="l" indent="0" marL="0">
              <a:buNone/>
            </a:pPr>
            <a:r>
              <a:rPr lang="en-US" sz="2800" dirty="0">
                <a:solidFill>
                  <a:srgbClr val="0B1026"/>
                </a:solidFill>
                <a:latin typeface="Segoe UI Semibold" pitchFamily="34" charset="0"/>
                <a:ea typeface="Segoe UI Semibold" pitchFamily="34" charset="-122"/>
                <a:cs typeface="Segoe UI Semibold" pitchFamily="34" charset="-120"/>
              </a:rPr>
              <a:t>When production breaks, the evidence is scattered and the clock is running</a:t>
            </a:r>
            <a:endParaRPr lang="en-US" sz="2800" dirty="0"/>
          </a:p>
        </p:txBody>
      </p:sp>
      <p:sp>
        <p:nvSpPr>
          <p:cNvPr id="3" name="GRAD"/>
          <p:cNvSpPr/>
          <p:nvPr/>
        </p:nvSpPr>
        <p:spPr>
          <a:xfrm>
            <a:off x="457200" y="1325880"/>
            <a:ext cx="1463040" cy="45720"/>
          </a:xfrm>
          <a:prstGeom prst="rect">
            <a:avLst/>
          </a:prstGeom>
          <a:gradFill rotWithShape="1">
            <a:gsLst>
              <a:gs pos="0">
                <a:srgbClr val="2563EB"/>
              </a:gs>
              <a:gs pos="100000">
                <a:srgbClr val="7C3AED"/>
              </a:gs>
            </a:gsLst>
            <a:lin ang="0" scaled="0"/>
          </a:gradFill>
          <a:ln w="12700">
            <a:solidFill>
              <a:srgbClr val="2563EB"/>
            </a:solidFill>
            <a:prstDash val="solid"/>
          </a:ln>
        </p:spPr>
      </p:sp>
      <p:sp>
        <p:nvSpPr>
          <p:cNvPr id="4" name="Text 2"/>
          <p:cNvSpPr txBox="1"/>
          <p:nvPr/>
        </p:nvSpPr>
        <p:spPr>
          <a:xfrm>
            <a:off x="457200" y="1508760"/>
            <a:ext cx="4480560" cy="502920"/>
          </a:xfrm>
          <a:prstGeom prst="rect">
            <a:avLst/>
          </a:prstGeom>
          <a:noFill/>
          <a:ln/>
        </p:spPr>
        <p:txBody>
          <a:bodyPr wrap="square" lIns="0" tIns="0" rIns="0" bIns="0" rtlCol="0" anchor="t"/>
          <a:lstStyle/>
          <a:p>
            <a:pPr algn="l" indent="0" marL="0">
              <a:buNone/>
            </a:pPr>
            <a:r>
              <a:rPr lang="en-US" sz="1400" dirty="0">
                <a:solidFill>
                  <a:srgbClr val="4A5578"/>
                </a:solidFill>
              </a:rPr>
              <a:t>One incident can generate thousands of signals across many systems.</a:t>
            </a:r>
            <a:endParaRPr lang="en-US" sz="1400" dirty="0"/>
          </a:p>
        </p:txBody>
      </p:sp>
      <p:sp>
        <p:nvSpPr>
          <p:cNvPr id="5" name="Text 3"/>
          <p:cNvSpPr txBox="1"/>
          <p:nvPr/>
        </p:nvSpPr>
        <p:spPr>
          <a:xfrm>
            <a:off x="457200" y="2057400"/>
            <a:ext cx="4480560" cy="2148840"/>
          </a:xfrm>
          <a:prstGeom prst="rect">
            <a:avLst/>
          </a:prstGeom>
          <a:noFill/>
          <a:ln/>
        </p:spPr>
        <p:txBody>
          <a:bodyPr wrap="square" lIns="0" tIns="0" rIns="0" bIns="0" rtlCol="0" anchor="t"/>
          <a:lstStyle/>
          <a:p>
            <a:pPr marL="342900" indent="-342900">
              <a:spcAft>
                <a:spcPts val="800"/>
              </a:spcAft>
              <a:buSzPct val="100000"/>
              <a:buChar char="•"/>
            </a:pPr>
            <a:r>
              <a:rPr lang="en-US" sz="1400" dirty="0">
                <a:solidFill>
                  <a:srgbClr val="0B1026"/>
                </a:solidFill>
              </a:rPr>
              <a:t>Alert floods hide the real cause</a:t>
            </a:r>
            <a:endParaRPr lang="en-US" sz="1400" dirty="0"/>
          </a:p>
          <a:p>
            <a:pPr marL="342900" indent="-342900">
              <a:spcAft>
                <a:spcPts val="800"/>
              </a:spcAft>
              <a:buSzPct val="100000"/>
              <a:buChar char="•"/>
            </a:pPr>
            <a:r>
              <a:rPr lang="en-US" sz="1400" dirty="0">
                <a:solidFill>
                  <a:srgbClr val="0B1026"/>
                </a:solidFill>
              </a:rPr>
              <a:t>Engineers hop between logs, metrics, traces and change history manually</a:t>
            </a:r>
            <a:endParaRPr lang="en-US" sz="1400" dirty="0"/>
          </a:p>
          <a:p>
            <a:pPr marL="342900" indent="-342900">
              <a:spcAft>
                <a:spcPts val="800"/>
              </a:spcAft>
              <a:buSzPct val="100000"/>
              <a:buChar char="•"/>
            </a:pPr>
            <a:r>
              <a:rPr lang="en-US" sz="1400" dirty="0">
                <a:solidFill>
                  <a:srgbClr val="0B1026"/>
                </a:solidFill>
              </a:rPr>
              <a:t>First-guess conclusions and red herrings waste time (a recent deploy looks guilty but is not)</a:t>
            </a:r>
            <a:endParaRPr lang="en-US" sz="1400" dirty="0"/>
          </a:p>
          <a:p>
            <a:pPr marL="342900" indent="-342900">
              <a:spcAft>
                <a:spcPts val="800"/>
              </a:spcAft>
              <a:buSzPct val="100000"/>
              <a:buChar char="•"/>
            </a:pPr>
            <a:r>
              <a:rPr lang="en-US" sz="1400" dirty="0">
                <a:solidFill>
                  <a:srgbClr val="0B1026"/>
                </a:solidFill>
              </a:rPr>
              <a:t>Slow recovery under pressure, often at night</a:t>
            </a:r>
            <a:endParaRPr lang="en-US" sz="1400" dirty="0"/>
          </a:p>
        </p:txBody>
      </p:sp>
      <p:sp>
        <p:nvSpPr>
          <p:cNvPr id="6" name="Shape 4"/>
          <p:cNvSpPr/>
          <p:nvPr/>
        </p:nvSpPr>
        <p:spPr>
          <a:xfrm>
            <a:off x="457200" y="4389120"/>
            <a:ext cx="4480560" cy="1097280"/>
          </a:xfrm>
          <a:prstGeom prst="roundRect">
            <a:avLst>
              <a:gd name="adj" fmla="val 6667"/>
            </a:avLst>
          </a:prstGeom>
          <a:solidFill>
            <a:srgbClr val="FFFFFF"/>
          </a:solidFill>
          <a:ln w="12700">
            <a:solidFill>
              <a:srgbClr val="D6DCF0"/>
            </a:solidFill>
            <a:prstDash val="solid"/>
          </a:ln>
          <a:effectLst>
            <a:outerShdw sx="100000" sy="100000" kx="0" ky="0" algn="bl" rotWithShape="0" blurRad="76200" dist="12700" dir="5400000">
              <a:srgbClr val="0B1026">
                <a:alpha val="8000"/>
              </a:srgbClr>
            </a:outerShdw>
          </a:effectLst>
        </p:spPr>
      </p:sp>
      <p:sp>
        <p:nvSpPr>
          <p:cNvPr id="7" name="Shape 5"/>
          <p:cNvSpPr/>
          <p:nvPr/>
        </p:nvSpPr>
        <p:spPr>
          <a:xfrm>
            <a:off x="768096" y="4654296"/>
            <a:ext cx="566928" cy="566928"/>
          </a:xfrm>
          <a:prstGeom prst="ellipse">
            <a:avLst>
              <a:gd name="adj" fmla="val 12903"/>
            </a:avLst>
          </a:prstGeom>
          <a:solidFill>
            <a:srgbClr val="E0E7FF"/>
          </a:solidFill>
          <a:ln w="12700">
            <a:solidFill>
              <a:srgbClr val="E0E7FF"/>
            </a:solidFill>
            <a:prstDash val="solid"/>
          </a:ln>
        </p:spPr>
      </p:sp>
      <p:sp>
        <p:nvSpPr>
          <p:cNvPr id="8" name="Shape 6"/>
          <p:cNvSpPr/>
          <p:nvPr/>
        </p:nvSpPr>
        <p:spPr>
          <a:xfrm>
            <a:off x="969264" y="4754880"/>
            <a:ext cx="164592" cy="164592"/>
          </a:xfrm>
          <a:prstGeom prst="ellipse">
            <a:avLst>
              <a:gd name="adj" fmla="val 44444"/>
            </a:avLst>
          </a:prstGeom>
          <a:solidFill>
            <a:srgbClr val="2563EB"/>
          </a:solidFill>
          <a:ln w="12700">
            <a:solidFill>
              <a:srgbClr val="2563EB"/>
            </a:solidFill>
            <a:prstDash val="solid"/>
          </a:ln>
        </p:spPr>
      </p:sp>
      <p:sp>
        <p:nvSpPr>
          <p:cNvPr id="9" name="Shape 7"/>
          <p:cNvSpPr/>
          <p:nvPr/>
        </p:nvSpPr>
        <p:spPr>
          <a:xfrm>
            <a:off x="896112" y="4937760"/>
            <a:ext cx="310896" cy="182880"/>
          </a:xfrm>
          <a:prstGeom prst="roundRect">
            <a:avLst>
              <a:gd name="adj" fmla="val 40000"/>
            </a:avLst>
          </a:prstGeom>
          <a:solidFill>
            <a:srgbClr val="2563EB"/>
          </a:solidFill>
          <a:ln w="12700">
            <a:solidFill>
              <a:srgbClr val="2563EB"/>
            </a:solidFill>
            <a:prstDash val="solid"/>
          </a:ln>
        </p:spPr>
      </p:sp>
      <p:sp>
        <p:nvSpPr>
          <p:cNvPr id="10" name="Text 8"/>
          <p:cNvSpPr txBox="1"/>
          <p:nvPr/>
        </p:nvSpPr>
        <p:spPr>
          <a:xfrm>
            <a:off x="1508760" y="4480560"/>
            <a:ext cx="3337560" cy="914400"/>
          </a:xfrm>
          <a:prstGeom prst="rect">
            <a:avLst/>
          </a:prstGeom>
          <a:noFill/>
          <a:ln/>
        </p:spPr>
        <p:txBody>
          <a:bodyPr wrap="square" lIns="0" tIns="0" rIns="0" bIns="0" rtlCol="0" anchor="ctr"/>
          <a:lstStyle/>
          <a:p>
            <a:pPr algn="l" indent="0" marL="0">
              <a:buNone/>
            </a:pPr>
            <a:r>
              <a:rPr lang="en-US" sz="1200" b="1" dirty="0">
                <a:solidFill>
                  <a:srgbClr val="0B1026"/>
                </a:solidFill>
              </a:rPr>
              <a:t>On-call SRE / Ops engineer</a:t>
            </a:r>
            <a:endParaRPr lang="en-US" sz="1200" dirty="0"/>
          </a:p>
          <a:p>
            <a:pPr algn="l" indent="0" marL="0">
              <a:buNone/>
            </a:pPr>
            <a:r>
              <a:rPr lang="en-US" sz="1200" dirty="0">
                <a:solidFill>
                  <a:srgbClr val="0B1026"/>
                </a:solidFill>
              </a:rPr>
              <a:t>Paged at night, many tools open, needs answers fast.</a:t>
            </a:r>
            <a:endParaRPr lang="en-US" sz="1200" dirty="0"/>
          </a:p>
        </p:txBody>
      </p:sp>
      <p:sp>
        <p:nvSpPr>
          <p:cNvPr id="11" name="Text 9"/>
          <p:cNvSpPr txBox="1"/>
          <p:nvPr/>
        </p:nvSpPr>
        <p:spPr>
          <a:xfrm>
            <a:off x="5303520" y="1508760"/>
            <a:ext cx="2697480" cy="365760"/>
          </a:xfrm>
          <a:prstGeom prst="roundRect">
            <a:avLst>
              <a:gd name="adj" fmla="val 20000"/>
            </a:avLst>
          </a:prstGeom>
          <a:solidFill>
            <a:srgbClr val="FFFFFF"/>
          </a:solidFill>
          <a:ln w="15875">
            <a:solidFill>
              <a:srgbClr val="2563EB"/>
            </a:solidFill>
          </a:ln>
        </p:spPr>
        <p:txBody>
          <a:bodyPr wrap="square" lIns="63500" tIns="63500" rIns="63500" bIns="63500" rtlCol="0" anchor="ctr"/>
          <a:lstStyle/>
          <a:p>
            <a:pPr algn="l" indent="0" marL="0">
              <a:buNone/>
            </a:pPr>
            <a:r>
              <a:rPr lang="en-US" sz="1200" dirty="0">
                <a:solidFill>
                  <a:srgbClr val="0B1026"/>
                </a:solidFill>
              </a:rPr>
              <a:t>Application logs</a:t>
            </a:r>
            <a:endParaRPr lang="en-US" sz="1200" dirty="0"/>
          </a:p>
        </p:txBody>
      </p:sp>
      <p:sp>
        <p:nvSpPr>
          <p:cNvPr id="12" name="Shape 10"/>
          <p:cNvSpPr/>
          <p:nvPr/>
        </p:nvSpPr>
        <p:spPr>
          <a:xfrm>
            <a:off x="8001000" y="1691640"/>
            <a:ext cx="411480" cy="1783080"/>
          </a:xfrm>
          <a:prstGeom prst="line">
            <a:avLst/>
          </a:prstGeom>
          <a:noFill/>
          <a:ln w="12700">
            <a:solidFill>
              <a:srgbClr val="4A5578"/>
            </a:solidFill>
            <a:prstDash val="solid"/>
            <a:tailEnd type="triangle"/>
          </a:ln>
        </p:spPr>
      </p:sp>
      <p:sp>
        <p:nvSpPr>
          <p:cNvPr id="13" name="Text 11"/>
          <p:cNvSpPr txBox="1"/>
          <p:nvPr/>
        </p:nvSpPr>
        <p:spPr>
          <a:xfrm>
            <a:off x="5303520" y="1965960"/>
            <a:ext cx="2697480" cy="365760"/>
          </a:xfrm>
          <a:prstGeom prst="roundRect">
            <a:avLst>
              <a:gd name="adj" fmla="val 20000"/>
            </a:avLst>
          </a:prstGeom>
          <a:solidFill>
            <a:srgbClr val="FFFFFF"/>
          </a:solidFill>
          <a:ln w="15875">
            <a:solidFill>
              <a:srgbClr val="2563EB"/>
            </a:solidFill>
          </a:ln>
        </p:spPr>
        <p:txBody>
          <a:bodyPr wrap="square" lIns="63500" tIns="63500" rIns="63500" bIns="63500" rtlCol="0" anchor="ctr"/>
          <a:lstStyle/>
          <a:p>
            <a:pPr algn="l" indent="0" marL="0">
              <a:buNone/>
            </a:pPr>
            <a:r>
              <a:rPr lang="en-US" sz="1200" dirty="0">
                <a:solidFill>
                  <a:srgbClr val="0B1026"/>
                </a:solidFill>
              </a:rPr>
              <a:t>Infrastructure logs</a:t>
            </a:r>
            <a:endParaRPr lang="en-US" sz="1200" dirty="0"/>
          </a:p>
        </p:txBody>
      </p:sp>
      <p:sp>
        <p:nvSpPr>
          <p:cNvPr id="14" name="Shape 12"/>
          <p:cNvSpPr/>
          <p:nvPr/>
        </p:nvSpPr>
        <p:spPr>
          <a:xfrm>
            <a:off x="8001000" y="2148840"/>
            <a:ext cx="411480" cy="1325880"/>
          </a:xfrm>
          <a:prstGeom prst="line">
            <a:avLst/>
          </a:prstGeom>
          <a:noFill/>
          <a:ln w="12700">
            <a:solidFill>
              <a:srgbClr val="4A5578"/>
            </a:solidFill>
            <a:prstDash val="solid"/>
            <a:tailEnd type="triangle"/>
          </a:ln>
        </p:spPr>
      </p:sp>
      <p:sp>
        <p:nvSpPr>
          <p:cNvPr id="15" name="Text 13"/>
          <p:cNvSpPr txBox="1"/>
          <p:nvPr/>
        </p:nvSpPr>
        <p:spPr>
          <a:xfrm>
            <a:off x="5303520" y="2423160"/>
            <a:ext cx="2697480" cy="365760"/>
          </a:xfrm>
          <a:prstGeom prst="roundRect">
            <a:avLst>
              <a:gd name="adj" fmla="val 20000"/>
            </a:avLst>
          </a:prstGeom>
          <a:solidFill>
            <a:srgbClr val="FFFFFF"/>
          </a:solidFill>
          <a:ln w="15875">
            <a:solidFill>
              <a:srgbClr val="2563EB"/>
            </a:solidFill>
          </a:ln>
        </p:spPr>
        <p:txBody>
          <a:bodyPr wrap="square" lIns="63500" tIns="63500" rIns="63500" bIns="63500" rtlCol="0" anchor="ctr"/>
          <a:lstStyle/>
          <a:p>
            <a:pPr algn="l" indent="0" marL="0">
              <a:buNone/>
            </a:pPr>
            <a:r>
              <a:rPr lang="en-US" sz="1200" dirty="0">
                <a:solidFill>
                  <a:srgbClr val="0B1026"/>
                </a:solidFill>
              </a:rPr>
              <a:t>CPU/memory metrics</a:t>
            </a:r>
            <a:endParaRPr lang="en-US" sz="1200" dirty="0"/>
          </a:p>
        </p:txBody>
      </p:sp>
      <p:sp>
        <p:nvSpPr>
          <p:cNvPr id="16" name="Shape 14"/>
          <p:cNvSpPr/>
          <p:nvPr/>
        </p:nvSpPr>
        <p:spPr>
          <a:xfrm>
            <a:off x="8001000" y="2606040"/>
            <a:ext cx="411480" cy="868680"/>
          </a:xfrm>
          <a:prstGeom prst="line">
            <a:avLst/>
          </a:prstGeom>
          <a:noFill/>
          <a:ln w="12700">
            <a:solidFill>
              <a:srgbClr val="4A5578"/>
            </a:solidFill>
            <a:prstDash val="solid"/>
            <a:tailEnd type="triangle"/>
          </a:ln>
        </p:spPr>
      </p:sp>
      <p:sp>
        <p:nvSpPr>
          <p:cNvPr id="17" name="Text 15"/>
          <p:cNvSpPr txBox="1"/>
          <p:nvPr/>
        </p:nvSpPr>
        <p:spPr>
          <a:xfrm>
            <a:off x="5303520" y="2880360"/>
            <a:ext cx="2697480" cy="365760"/>
          </a:xfrm>
          <a:prstGeom prst="roundRect">
            <a:avLst>
              <a:gd name="adj" fmla="val 20000"/>
            </a:avLst>
          </a:prstGeom>
          <a:solidFill>
            <a:srgbClr val="FFFFFF"/>
          </a:solidFill>
          <a:ln w="15875">
            <a:solidFill>
              <a:srgbClr val="2563EB"/>
            </a:solidFill>
          </a:ln>
        </p:spPr>
        <p:txBody>
          <a:bodyPr wrap="square" lIns="63500" tIns="63500" rIns="63500" bIns="63500" rtlCol="0" anchor="ctr"/>
          <a:lstStyle/>
          <a:p>
            <a:pPr algn="l" indent="0" marL="0">
              <a:buNone/>
            </a:pPr>
            <a:r>
              <a:rPr lang="en-US" sz="1200" dirty="0">
                <a:solidFill>
                  <a:srgbClr val="0B1026"/>
                </a:solidFill>
              </a:rPr>
              <a:t>Distributed traces</a:t>
            </a:r>
            <a:endParaRPr lang="en-US" sz="1200" dirty="0"/>
          </a:p>
        </p:txBody>
      </p:sp>
      <p:sp>
        <p:nvSpPr>
          <p:cNvPr id="18" name="Shape 16"/>
          <p:cNvSpPr/>
          <p:nvPr/>
        </p:nvSpPr>
        <p:spPr>
          <a:xfrm>
            <a:off x="8001000" y="3063240"/>
            <a:ext cx="411480" cy="411480"/>
          </a:xfrm>
          <a:prstGeom prst="line">
            <a:avLst/>
          </a:prstGeom>
          <a:noFill/>
          <a:ln w="12700">
            <a:solidFill>
              <a:srgbClr val="4A5578"/>
            </a:solidFill>
            <a:prstDash val="solid"/>
            <a:tailEnd type="triangle"/>
          </a:ln>
        </p:spPr>
      </p:sp>
      <p:sp>
        <p:nvSpPr>
          <p:cNvPr id="19" name="Text 17"/>
          <p:cNvSpPr txBox="1"/>
          <p:nvPr/>
        </p:nvSpPr>
        <p:spPr>
          <a:xfrm>
            <a:off x="5303520" y="3337560"/>
            <a:ext cx="2697480" cy="365760"/>
          </a:xfrm>
          <a:prstGeom prst="roundRect">
            <a:avLst>
              <a:gd name="adj" fmla="val 20000"/>
            </a:avLst>
          </a:prstGeom>
          <a:solidFill>
            <a:srgbClr val="FFFFFF"/>
          </a:solidFill>
          <a:ln w="15875">
            <a:solidFill>
              <a:srgbClr val="2563EB"/>
            </a:solidFill>
          </a:ln>
        </p:spPr>
        <p:txBody>
          <a:bodyPr wrap="square" lIns="63500" tIns="63500" rIns="63500" bIns="63500" rtlCol="0" anchor="ctr"/>
          <a:lstStyle/>
          <a:p>
            <a:pPr algn="l" indent="0" marL="0">
              <a:buNone/>
            </a:pPr>
            <a:r>
              <a:rPr lang="en-US" sz="1200" dirty="0">
                <a:solidFill>
                  <a:srgbClr val="0B1026"/>
                </a:solidFill>
              </a:rPr>
              <a:t>Alerts</a:t>
            </a:r>
            <a:endParaRPr lang="en-US" sz="1200" dirty="0"/>
          </a:p>
        </p:txBody>
      </p:sp>
      <p:sp>
        <p:nvSpPr>
          <p:cNvPr id="20" name="Shape 18"/>
          <p:cNvSpPr/>
          <p:nvPr/>
        </p:nvSpPr>
        <p:spPr>
          <a:xfrm flipV="1">
            <a:off x="8001000" y="3474720"/>
            <a:ext cx="411480" cy="45720"/>
          </a:xfrm>
          <a:prstGeom prst="line">
            <a:avLst/>
          </a:prstGeom>
          <a:noFill/>
          <a:ln w="12700">
            <a:solidFill>
              <a:srgbClr val="4A5578"/>
            </a:solidFill>
            <a:prstDash val="solid"/>
            <a:tailEnd type="triangle"/>
          </a:ln>
        </p:spPr>
      </p:sp>
      <p:sp>
        <p:nvSpPr>
          <p:cNvPr id="21" name="Text 19"/>
          <p:cNvSpPr txBox="1"/>
          <p:nvPr/>
        </p:nvSpPr>
        <p:spPr>
          <a:xfrm>
            <a:off x="5303520" y="3794760"/>
            <a:ext cx="2697480" cy="365760"/>
          </a:xfrm>
          <a:prstGeom prst="roundRect">
            <a:avLst>
              <a:gd name="adj" fmla="val 20000"/>
            </a:avLst>
          </a:prstGeom>
          <a:solidFill>
            <a:srgbClr val="FFFFFF"/>
          </a:solidFill>
          <a:ln w="15875">
            <a:solidFill>
              <a:srgbClr val="2563EB"/>
            </a:solidFill>
          </a:ln>
        </p:spPr>
        <p:txBody>
          <a:bodyPr wrap="square" lIns="63500" tIns="63500" rIns="63500" bIns="63500" rtlCol="0" anchor="ctr"/>
          <a:lstStyle/>
          <a:p>
            <a:pPr algn="l" indent="0" marL="0">
              <a:buNone/>
            </a:pPr>
            <a:r>
              <a:rPr lang="en-US" sz="1200" dirty="0">
                <a:solidFill>
                  <a:srgbClr val="0B1026"/>
                </a:solidFill>
              </a:rPr>
              <a:t>Deployment history</a:t>
            </a:r>
            <a:endParaRPr lang="en-US" sz="1200" dirty="0"/>
          </a:p>
        </p:txBody>
      </p:sp>
      <p:sp>
        <p:nvSpPr>
          <p:cNvPr id="22" name="Shape 20"/>
          <p:cNvSpPr/>
          <p:nvPr/>
        </p:nvSpPr>
        <p:spPr>
          <a:xfrm flipV="1">
            <a:off x="8001000" y="3474720"/>
            <a:ext cx="411480" cy="502920"/>
          </a:xfrm>
          <a:prstGeom prst="line">
            <a:avLst/>
          </a:prstGeom>
          <a:noFill/>
          <a:ln w="12700">
            <a:solidFill>
              <a:srgbClr val="4A5578"/>
            </a:solidFill>
            <a:prstDash val="solid"/>
            <a:tailEnd type="triangle"/>
          </a:ln>
        </p:spPr>
      </p:sp>
      <p:sp>
        <p:nvSpPr>
          <p:cNvPr id="23" name="Text 21"/>
          <p:cNvSpPr txBox="1"/>
          <p:nvPr/>
        </p:nvSpPr>
        <p:spPr>
          <a:xfrm>
            <a:off x="5303520" y="4251960"/>
            <a:ext cx="2697480" cy="365760"/>
          </a:xfrm>
          <a:prstGeom prst="roundRect">
            <a:avLst>
              <a:gd name="adj" fmla="val 20000"/>
            </a:avLst>
          </a:prstGeom>
          <a:solidFill>
            <a:srgbClr val="FFFFFF"/>
          </a:solidFill>
          <a:ln w="15875">
            <a:solidFill>
              <a:srgbClr val="2563EB"/>
            </a:solidFill>
          </a:ln>
        </p:spPr>
        <p:txBody>
          <a:bodyPr wrap="square" lIns="63500" tIns="63500" rIns="63500" bIns="63500" rtlCol="0" anchor="ctr"/>
          <a:lstStyle/>
          <a:p>
            <a:pPr algn="l" indent="0" marL="0">
              <a:buNone/>
            </a:pPr>
            <a:r>
              <a:rPr lang="en-US" sz="1200" dirty="0">
                <a:solidFill>
                  <a:srgbClr val="0B1026"/>
                </a:solidFill>
              </a:rPr>
              <a:t>Config changes</a:t>
            </a:r>
            <a:endParaRPr lang="en-US" sz="1200" dirty="0"/>
          </a:p>
        </p:txBody>
      </p:sp>
      <p:sp>
        <p:nvSpPr>
          <p:cNvPr id="24" name="Shape 22"/>
          <p:cNvSpPr/>
          <p:nvPr/>
        </p:nvSpPr>
        <p:spPr>
          <a:xfrm flipV="1">
            <a:off x="8001000" y="3474720"/>
            <a:ext cx="411480" cy="960120"/>
          </a:xfrm>
          <a:prstGeom prst="line">
            <a:avLst/>
          </a:prstGeom>
          <a:noFill/>
          <a:ln w="12700">
            <a:solidFill>
              <a:srgbClr val="4A5578"/>
            </a:solidFill>
            <a:prstDash val="solid"/>
            <a:tailEnd type="triangle"/>
          </a:ln>
        </p:spPr>
      </p:sp>
      <p:sp>
        <p:nvSpPr>
          <p:cNvPr id="25" name="Text 23"/>
          <p:cNvSpPr txBox="1"/>
          <p:nvPr/>
        </p:nvSpPr>
        <p:spPr>
          <a:xfrm>
            <a:off x="5303520" y="4709160"/>
            <a:ext cx="2697480" cy="365760"/>
          </a:xfrm>
          <a:prstGeom prst="roundRect">
            <a:avLst>
              <a:gd name="adj" fmla="val 20000"/>
            </a:avLst>
          </a:prstGeom>
          <a:solidFill>
            <a:srgbClr val="FFFFFF"/>
          </a:solidFill>
          <a:ln w="15875">
            <a:solidFill>
              <a:srgbClr val="2563EB"/>
            </a:solidFill>
          </a:ln>
        </p:spPr>
        <p:txBody>
          <a:bodyPr wrap="square" lIns="63500" tIns="63500" rIns="63500" bIns="63500" rtlCol="0" anchor="ctr"/>
          <a:lstStyle/>
          <a:p>
            <a:pPr algn="l" indent="0" marL="0">
              <a:buNone/>
            </a:pPr>
            <a:r>
              <a:rPr lang="en-US" sz="1200" dirty="0">
                <a:solidFill>
                  <a:srgbClr val="0B1026"/>
                </a:solidFill>
              </a:rPr>
              <a:t>Service dependencies</a:t>
            </a:r>
            <a:endParaRPr lang="en-US" sz="1200" dirty="0"/>
          </a:p>
        </p:txBody>
      </p:sp>
      <p:sp>
        <p:nvSpPr>
          <p:cNvPr id="26" name="Shape 24"/>
          <p:cNvSpPr/>
          <p:nvPr/>
        </p:nvSpPr>
        <p:spPr>
          <a:xfrm flipV="1">
            <a:off x="8001000" y="3474720"/>
            <a:ext cx="411480" cy="1417320"/>
          </a:xfrm>
          <a:prstGeom prst="line">
            <a:avLst/>
          </a:prstGeom>
          <a:noFill/>
          <a:ln w="12700">
            <a:solidFill>
              <a:srgbClr val="4A5578"/>
            </a:solidFill>
            <a:prstDash val="solid"/>
            <a:tailEnd type="triangle"/>
          </a:ln>
        </p:spPr>
      </p:sp>
      <p:sp>
        <p:nvSpPr>
          <p:cNvPr id="27" name="Text 25"/>
          <p:cNvSpPr txBox="1"/>
          <p:nvPr/>
        </p:nvSpPr>
        <p:spPr>
          <a:xfrm>
            <a:off x="5303520" y="5166360"/>
            <a:ext cx="2697480" cy="365760"/>
          </a:xfrm>
          <a:prstGeom prst="roundRect">
            <a:avLst>
              <a:gd name="adj" fmla="val 20000"/>
            </a:avLst>
          </a:prstGeom>
          <a:solidFill>
            <a:srgbClr val="FFFFFF"/>
          </a:solidFill>
          <a:ln w="15875">
            <a:solidFill>
              <a:srgbClr val="2563EB"/>
            </a:solidFill>
          </a:ln>
        </p:spPr>
        <p:txBody>
          <a:bodyPr wrap="square" lIns="63500" tIns="63500" rIns="63500" bIns="63500" rtlCol="0" anchor="ctr"/>
          <a:lstStyle/>
          <a:p>
            <a:pPr algn="l" indent="0" marL="0">
              <a:buNone/>
            </a:pPr>
            <a:r>
              <a:rPr lang="en-US" sz="1200" dirty="0">
                <a:solidFill>
                  <a:srgbClr val="0B1026"/>
                </a:solidFill>
              </a:rPr>
              <a:t>Past incidents &amp; support tickets</a:t>
            </a:r>
            <a:endParaRPr lang="en-US" sz="1200" dirty="0"/>
          </a:p>
        </p:txBody>
      </p:sp>
      <p:sp>
        <p:nvSpPr>
          <p:cNvPr id="28" name="Shape 26"/>
          <p:cNvSpPr/>
          <p:nvPr/>
        </p:nvSpPr>
        <p:spPr>
          <a:xfrm flipV="1">
            <a:off x="8001000" y="3474720"/>
            <a:ext cx="411480" cy="1874520"/>
          </a:xfrm>
          <a:prstGeom prst="line">
            <a:avLst/>
          </a:prstGeom>
          <a:noFill/>
          <a:ln w="12700">
            <a:solidFill>
              <a:srgbClr val="4A5578"/>
            </a:solidFill>
            <a:prstDash val="solid"/>
            <a:tailEnd type="triangle"/>
          </a:ln>
        </p:spPr>
      </p:sp>
      <p:sp>
        <p:nvSpPr>
          <p:cNvPr id="29" name="Text 27"/>
          <p:cNvSpPr txBox="1"/>
          <p:nvPr/>
        </p:nvSpPr>
        <p:spPr>
          <a:xfrm>
            <a:off x="8412480" y="2697480"/>
            <a:ext cx="1417320" cy="1554480"/>
          </a:xfrm>
          <a:prstGeom prst="roundRect">
            <a:avLst>
              <a:gd name="adj" fmla="val 5161"/>
            </a:avLst>
          </a:prstGeom>
          <a:solidFill>
            <a:srgbClr val="EEF2FF"/>
          </a:solidFill>
          <a:ln w="22225">
            <a:solidFill>
              <a:srgbClr val="2563EB"/>
            </a:solidFill>
          </a:ln>
          <a:effectLst>
            <a:outerShdw sx="100000" sy="100000" kx="0" ky="0" algn="bl" rotWithShape="0" blurRad="76200" dist="12700" dir="5400000">
              <a:srgbClr val="0B1026">
                <a:alpha val="8000"/>
              </a:srgbClr>
            </a:outerShdw>
          </a:effectLst>
        </p:spPr>
        <p:txBody>
          <a:bodyPr wrap="square" lIns="76200" tIns="76200" rIns="76200" bIns="76200" rtlCol="0" anchor="ctr"/>
          <a:lstStyle/>
          <a:p>
            <a:pPr algn="ctr" indent="0" marL="0">
              <a:buNone/>
            </a:pPr>
            <a:r>
              <a:rPr lang="en-US" sz="1400" b="1" dirty="0">
                <a:solidFill>
                  <a:srgbClr val="0B1026"/>
                </a:solidFill>
              </a:rPr>
              <a:t>On-call SRE / Ops engineer</a:t>
            </a:r>
            <a:endParaRPr lang="en-US" sz="1400" dirty="0"/>
          </a:p>
        </p:txBody>
      </p:sp>
      <p:sp>
        <p:nvSpPr>
          <p:cNvPr id="30" name="Text 28"/>
          <p:cNvSpPr txBox="1"/>
          <p:nvPr/>
        </p:nvSpPr>
        <p:spPr>
          <a:xfrm>
            <a:off x="10149840" y="1920240"/>
            <a:ext cx="1581912" cy="566928"/>
          </a:xfrm>
          <a:prstGeom prst="roundRect">
            <a:avLst>
              <a:gd name="adj" fmla="val 12903"/>
            </a:avLst>
          </a:prstGeom>
          <a:solidFill>
            <a:srgbClr val="EDE9FE"/>
          </a:solidFill>
          <a:ln w="12700">
            <a:solidFill>
              <a:srgbClr val="7C3AED"/>
            </a:solidFill>
          </a:ln>
        </p:spPr>
        <p:txBody>
          <a:bodyPr wrap="square" lIns="63500" tIns="63500" rIns="63500" bIns="63500" rtlCol="0" anchor="ctr"/>
          <a:lstStyle/>
          <a:p>
            <a:pPr algn="ctr" indent="0" marL="0">
              <a:buNone/>
            </a:pPr>
            <a:r>
              <a:rPr lang="en-US" sz="1200" dirty="0">
                <a:solidFill>
                  <a:srgbClr val="0B1026"/>
                </a:solidFill>
              </a:rPr>
              <a:t>What happened?</a:t>
            </a:r>
            <a:endParaRPr lang="en-US" sz="1200" dirty="0"/>
          </a:p>
        </p:txBody>
      </p:sp>
      <p:sp>
        <p:nvSpPr>
          <p:cNvPr id="31" name="Shape 29"/>
          <p:cNvSpPr/>
          <p:nvPr/>
        </p:nvSpPr>
        <p:spPr>
          <a:xfrm flipV="1">
            <a:off x="9829800" y="2203704"/>
            <a:ext cx="320040" cy="1271016"/>
          </a:xfrm>
          <a:prstGeom prst="line">
            <a:avLst/>
          </a:prstGeom>
          <a:noFill/>
          <a:ln w="12700">
            <a:solidFill>
              <a:srgbClr val="4A5578"/>
            </a:solidFill>
            <a:prstDash val="solid"/>
            <a:tailEnd type="triangle"/>
          </a:ln>
        </p:spPr>
      </p:sp>
      <p:sp>
        <p:nvSpPr>
          <p:cNvPr id="32" name="Text 30"/>
          <p:cNvSpPr txBox="1"/>
          <p:nvPr/>
        </p:nvSpPr>
        <p:spPr>
          <a:xfrm>
            <a:off x="10149840" y="2761488"/>
            <a:ext cx="1581912" cy="566928"/>
          </a:xfrm>
          <a:prstGeom prst="roundRect">
            <a:avLst>
              <a:gd name="adj" fmla="val 12903"/>
            </a:avLst>
          </a:prstGeom>
          <a:solidFill>
            <a:srgbClr val="EDE9FE"/>
          </a:solidFill>
          <a:ln w="12700">
            <a:solidFill>
              <a:srgbClr val="7C3AED"/>
            </a:solidFill>
          </a:ln>
        </p:spPr>
        <p:txBody>
          <a:bodyPr wrap="square" lIns="63500" tIns="63500" rIns="63500" bIns="63500" rtlCol="0" anchor="ctr"/>
          <a:lstStyle/>
          <a:p>
            <a:pPr algn="ctr" indent="0" marL="0">
              <a:buNone/>
            </a:pPr>
            <a:r>
              <a:rPr lang="en-US" sz="1200" dirty="0">
                <a:solidFill>
                  <a:srgbClr val="0B1026"/>
                </a:solidFill>
              </a:rPr>
              <a:t>Why did it happen?</a:t>
            </a:r>
            <a:endParaRPr lang="en-US" sz="1200" dirty="0"/>
          </a:p>
        </p:txBody>
      </p:sp>
      <p:sp>
        <p:nvSpPr>
          <p:cNvPr id="33" name="Shape 31"/>
          <p:cNvSpPr/>
          <p:nvPr/>
        </p:nvSpPr>
        <p:spPr>
          <a:xfrm flipV="1">
            <a:off x="9829800" y="3044952"/>
            <a:ext cx="320040" cy="429768"/>
          </a:xfrm>
          <a:prstGeom prst="line">
            <a:avLst/>
          </a:prstGeom>
          <a:noFill/>
          <a:ln w="12700">
            <a:solidFill>
              <a:srgbClr val="4A5578"/>
            </a:solidFill>
            <a:prstDash val="solid"/>
            <a:tailEnd type="triangle"/>
          </a:ln>
        </p:spPr>
      </p:sp>
      <p:sp>
        <p:nvSpPr>
          <p:cNvPr id="34" name="Text 32"/>
          <p:cNvSpPr txBox="1"/>
          <p:nvPr/>
        </p:nvSpPr>
        <p:spPr>
          <a:xfrm>
            <a:off x="10149840" y="3602736"/>
            <a:ext cx="1581912" cy="566928"/>
          </a:xfrm>
          <a:prstGeom prst="roundRect">
            <a:avLst>
              <a:gd name="adj" fmla="val 12903"/>
            </a:avLst>
          </a:prstGeom>
          <a:solidFill>
            <a:srgbClr val="EDE9FE"/>
          </a:solidFill>
          <a:ln w="12700">
            <a:solidFill>
              <a:srgbClr val="7C3AED"/>
            </a:solidFill>
          </a:ln>
        </p:spPr>
        <p:txBody>
          <a:bodyPr wrap="square" lIns="63500" tIns="63500" rIns="63500" bIns="63500" rtlCol="0" anchor="ctr"/>
          <a:lstStyle/>
          <a:p>
            <a:pPr algn="ctr" indent="0" marL="0">
              <a:buNone/>
            </a:pPr>
            <a:r>
              <a:rPr lang="en-US" sz="1200" dirty="0">
                <a:solidFill>
                  <a:srgbClr val="0B1026"/>
                </a:solidFill>
              </a:rPr>
              <a:t>What is impacted?</a:t>
            </a:r>
            <a:endParaRPr lang="en-US" sz="1200" dirty="0"/>
          </a:p>
        </p:txBody>
      </p:sp>
      <p:sp>
        <p:nvSpPr>
          <p:cNvPr id="35" name="Shape 33"/>
          <p:cNvSpPr/>
          <p:nvPr/>
        </p:nvSpPr>
        <p:spPr>
          <a:xfrm>
            <a:off x="9829800" y="3474720"/>
            <a:ext cx="320040" cy="411480"/>
          </a:xfrm>
          <a:prstGeom prst="line">
            <a:avLst/>
          </a:prstGeom>
          <a:noFill/>
          <a:ln w="12700">
            <a:solidFill>
              <a:srgbClr val="4A5578"/>
            </a:solidFill>
            <a:prstDash val="solid"/>
            <a:tailEnd type="triangle"/>
          </a:ln>
        </p:spPr>
      </p:sp>
      <p:sp>
        <p:nvSpPr>
          <p:cNvPr id="36" name="Text 34"/>
          <p:cNvSpPr txBox="1"/>
          <p:nvPr/>
        </p:nvSpPr>
        <p:spPr>
          <a:xfrm>
            <a:off x="10149840" y="4443984"/>
            <a:ext cx="1581912" cy="566928"/>
          </a:xfrm>
          <a:prstGeom prst="roundRect">
            <a:avLst>
              <a:gd name="adj" fmla="val 12903"/>
            </a:avLst>
          </a:prstGeom>
          <a:solidFill>
            <a:srgbClr val="EDE9FE"/>
          </a:solidFill>
          <a:ln w="12700">
            <a:solidFill>
              <a:srgbClr val="7C3AED"/>
            </a:solidFill>
          </a:ln>
        </p:spPr>
        <p:txBody>
          <a:bodyPr wrap="square" lIns="63500" tIns="63500" rIns="63500" bIns="63500" rtlCol="0" anchor="ctr"/>
          <a:lstStyle/>
          <a:p>
            <a:pPr algn="ctr" indent="0" marL="0">
              <a:buNone/>
            </a:pPr>
            <a:r>
              <a:rPr lang="en-US" sz="1200" dirty="0">
                <a:solidFill>
                  <a:srgbClr val="0B1026"/>
                </a:solidFill>
              </a:rPr>
              <a:t>What should we do next?</a:t>
            </a:r>
            <a:endParaRPr lang="en-US" sz="1200" dirty="0"/>
          </a:p>
        </p:txBody>
      </p:sp>
      <p:sp>
        <p:nvSpPr>
          <p:cNvPr id="37" name="Shape 35"/>
          <p:cNvSpPr/>
          <p:nvPr/>
        </p:nvSpPr>
        <p:spPr>
          <a:xfrm>
            <a:off x="9829800" y="3474720"/>
            <a:ext cx="320040" cy="1252728"/>
          </a:xfrm>
          <a:prstGeom prst="line">
            <a:avLst/>
          </a:prstGeom>
          <a:noFill/>
          <a:ln w="12700">
            <a:solidFill>
              <a:srgbClr val="4A5578"/>
            </a:solidFill>
            <a:prstDash val="solid"/>
            <a:tailEnd type="triangle"/>
          </a:ln>
        </p:spPr>
      </p:sp>
      <p:sp>
        <p:nvSpPr>
          <p:cNvPr id="38" name="Text 36"/>
          <p:cNvSpPr txBox="1"/>
          <p:nvPr/>
        </p:nvSpPr>
        <p:spPr>
          <a:xfrm>
            <a:off x="457200" y="5760720"/>
            <a:ext cx="11274552" cy="502920"/>
          </a:xfrm>
          <a:prstGeom prst="roundRect">
            <a:avLst>
              <a:gd name="adj" fmla="val 14545"/>
            </a:avLst>
          </a:prstGeom>
          <a:solidFill>
            <a:srgbClr val="F7F9FC"/>
          </a:solidFill>
          <a:ln w="12700">
            <a:solidFill>
              <a:srgbClr val="D6DCF0"/>
            </a:solidFill>
          </a:ln>
        </p:spPr>
        <p:txBody>
          <a:bodyPr wrap="square" lIns="127000" tIns="127000" rIns="127000" bIns="127000" rtlCol="0" anchor="ctr"/>
          <a:lstStyle/>
          <a:p>
            <a:pPr algn="l" indent="0" marL="0">
              <a:buNone/>
            </a:pPr>
            <a:r>
              <a:rPr lang="en-US" sz="1200" b="1" dirty="0">
                <a:solidFill>
                  <a:srgbClr val="0B1026"/>
                </a:solidFill>
              </a:rPr>
              <a:t>Who is affected: </a:t>
            </a:r>
            <a:pPr algn="l" indent="0" marL="0">
              <a:buNone/>
            </a:pPr>
            <a:r>
              <a:rPr lang="en-US" sz="1200" dirty="0">
                <a:solidFill>
                  <a:srgbClr val="0B1026"/>
                </a:solidFill>
              </a:rPr>
              <a:t>On-call SREs (primary user)  -  Engineering managers  -  Business owners  -  End customers</a:t>
            </a:r>
            <a:endParaRPr lang="en-US" sz="1200" dirty="0"/>
          </a:p>
        </p:txBody>
      </p:sp>
      <p:sp>
        <p:nvSpPr>
          <p:cNvPr id="25" name="Slide Number Placeholder 0"/>
          <p:cNvSpPr>
            <a:spLocks noGrp="1"/>
          </p:cNvSpPr>
          <p:nvPr>
            <p:ph type="sldNum" sz="quarter" idx="4294967295"/>
          </p:nvPr>
        </p:nvSpPr>
        <p:spPr>
          <a:xfrm>
            <a:off x="11000232" y="6492240"/>
            <a:ext cx="731520" cy="256032"/>
          </a:xfrm>
          <a:prstGeom prst="rect">
            <a:avLst/>
          </a:prstGeom>
          <a:extLst>
            <a:ext uri="{C572A759-6A51-4108-AA02-DFA0A04FC94B}">
              <ma14:wrappingTextBoxFlag xmlns:ma14="http://schemas.microsoft.com/office/mac/drawingml/2011/main" val="0"/>
            </a:ext>
          </a:extLst>
        </p:spPr>
        <p:txBody>
          <a:bodyPr anchor="ctr"/>
          <a:lstStyle>
            <a:lvl1pPr>
              <a:defRPr sz="1000">
                <a:solidFill>
                  <a:srgbClr val="4A5578"/>
                </a:solidFill>
              </a:defRPr>
            </a:lvl1pPr>
          </a:lstStyle>
          <a:p>
            <a:pPr algn="r"/>
            <a:fld id="{F7021451-1387-4CA6-816F-3879F97B5CBC}" type="slidenum">
              <a:rPr b="0" lang="en-US"/>
              <a:t>1</a:t>
            </a:fld>
            <a:endParaRPr lang="en-US"/>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ph idx="100" type="title" hasCustomPrompt="1"/>
          </p:nvPr>
        </p:nvSpPr>
        <p:spPr>
          <a:xfrm>
            <a:off x="457200" y="320040"/>
            <a:ext cx="11274552" cy="914400"/>
          </a:xfrm>
          <a:prstGeom prst="rect">
            <a:avLst/>
          </a:prstGeom>
          <a:noFill/>
          <a:ln/>
        </p:spPr>
        <p:txBody>
          <a:bodyPr wrap="square" lIns="0" tIns="0" rIns="0" bIns="0" rtlCol="0" anchor="b"/>
          <a:lstStyle/>
          <a:p>
            <a:pPr algn="l" indent="0" marL="0">
              <a:buNone/>
            </a:pPr>
            <a:r>
              <a:rPr lang="en-US" sz="2800" dirty="0">
                <a:solidFill>
                  <a:srgbClr val="0B1026"/>
                </a:solidFill>
                <a:latin typeface="Segoe UI Semibold" pitchFamily="34" charset="0"/>
                <a:ea typeface="Segoe UI Semibold" pitchFamily="34" charset="-122"/>
                <a:cs typeface="Segoe UI Semibold" pitchFamily="34" charset="-120"/>
              </a:rPr>
              <a:t>An AI investigator that shows its work</a:t>
            </a:r>
            <a:endParaRPr lang="en-US" sz="2800" dirty="0"/>
          </a:p>
        </p:txBody>
      </p:sp>
      <p:sp>
        <p:nvSpPr>
          <p:cNvPr id="3" name="GRAD"/>
          <p:cNvSpPr/>
          <p:nvPr/>
        </p:nvSpPr>
        <p:spPr>
          <a:xfrm>
            <a:off x="457200" y="1325880"/>
            <a:ext cx="1463040" cy="45720"/>
          </a:xfrm>
          <a:prstGeom prst="rect">
            <a:avLst/>
          </a:prstGeom>
          <a:gradFill rotWithShape="1">
            <a:gsLst>
              <a:gs pos="0">
                <a:srgbClr val="2563EB"/>
              </a:gs>
              <a:gs pos="100000">
                <a:srgbClr val="7C3AED"/>
              </a:gs>
            </a:gsLst>
            <a:lin ang="0" scaled="0"/>
          </a:gradFill>
          <a:ln w="12700">
            <a:solidFill>
              <a:srgbClr val="2563EB"/>
            </a:solidFill>
            <a:prstDash val="solid"/>
          </a:ln>
        </p:spPr>
      </p:sp>
      <p:sp>
        <p:nvSpPr>
          <p:cNvPr id="4" name="Text 2"/>
          <p:cNvSpPr txBox="1"/>
          <p:nvPr/>
        </p:nvSpPr>
        <p:spPr>
          <a:xfrm>
            <a:off x="457200" y="1508760"/>
            <a:ext cx="11274552" cy="640080"/>
          </a:xfrm>
          <a:prstGeom prst="rect">
            <a:avLst/>
          </a:prstGeom>
          <a:noFill/>
          <a:ln/>
        </p:spPr>
        <p:txBody>
          <a:bodyPr wrap="square" lIns="0" tIns="0" rIns="0" bIns="0" rtlCol="0" anchor="t"/>
          <a:lstStyle/>
          <a:p>
            <a:pPr algn="l" indent="0" marL="0">
              <a:buNone/>
            </a:pPr>
            <a:r>
              <a:rPr lang="en-US" sz="1400" dirty="0">
                <a:solidFill>
                  <a:srgbClr val="4A5578"/>
                </a:solidFill>
              </a:rPr>
              <a:t>It investigates like a senior SRE: holds competing hypotheses, tests them against evidence, recommends recovery, waits for human approval and verifies the fix.</a:t>
            </a:r>
            <a:endParaRPr lang="en-US" sz="1400" dirty="0"/>
          </a:p>
        </p:txBody>
      </p:sp>
      <p:sp>
        <p:nvSpPr>
          <p:cNvPr id="5" name="Text 3"/>
          <p:cNvSpPr txBox="1"/>
          <p:nvPr/>
        </p:nvSpPr>
        <p:spPr>
          <a:xfrm>
            <a:off x="457200" y="2286000"/>
            <a:ext cx="1417320" cy="640080"/>
          </a:xfrm>
          <a:prstGeom prst="roundRect">
            <a:avLst>
              <a:gd name="adj" fmla="val 11429"/>
            </a:avLst>
          </a:prstGeom>
          <a:solidFill>
            <a:srgbClr val="FFFFFF"/>
          </a:solidFill>
          <a:ln w="15875">
            <a:solidFill>
              <a:srgbClr val="2563EB"/>
            </a:solidFill>
          </a:ln>
          <a:effectLst>
            <a:outerShdw sx="100000" sy="100000" kx="0" ky="0" algn="bl" rotWithShape="0" blurRad="76200" dist="12700" dir="5400000">
              <a:srgbClr val="0B1026">
                <a:alpha val="8000"/>
              </a:srgbClr>
            </a:outerShdw>
          </a:effectLst>
        </p:spPr>
        <p:txBody>
          <a:bodyPr wrap="square" lIns="38100" tIns="38100" rIns="38100" bIns="38100" rtlCol="0" anchor="ctr"/>
          <a:lstStyle/>
          <a:p>
            <a:pPr algn="ctr" indent="0" marL="0">
              <a:buNone/>
            </a:pPr>
            <a:r>
              <a:rPr lang="en-US" sz="1300" b="1" dirty="0">
                <a:solidFill>
                  <a:srgbClr val="0B1026"/>
                </a:solidFill>
              </a:rPr>
              <a:t>Evidence</a:t>
            </a:r>
            <a:endParaRPr lang="en-US" sz="1300" dirty="0"/>
          </a:p>
        </p:txBody>
      </p:sp>
      <p:sp>
        <p:nvSpPr>
          <p:cNvPr id="6" name="Shape 4"/>
          <p:cNvSpPr/>
          <p:nvPr/>
        </p:nvSpPr>
        <p:spPr>
          <a:xfrm>
            <a:off x="1892808" y="2606040"/>
            <a:ext cx="188976" cy="0"/>
          </a:xfrm>
          <a:prstGeom prst="line">
            <a:avLst/>
          </a:prstGeom>
          <a:noFill/>
          <a:ln w="19050">
            <a:solidFill>
              <a:srgbClr val="2563EB"/>
            </a:solidFill>
            <a:prstDash val="solid"/>
            <a:tailEnd type="triangle"/>
          </a:ln>
        </p:spPr>
      </p:sp>
      <p:sp>
        <p:nvSpPr>
          <p:cNvPr id="7" name="Text 5"/>
          <p:cNvSpPr txBox="1"/>
          <p:nvPr/>
        </p:nvSpPr>
        <p:spPr>
          <a:xfrm>
            <a:off x="2100072" y="2286000"/>
            <a:ext cx="1417320" cy="640080"/>
          </a:xfrm>
          <a:prstGeom prst="roundRect">
            <a:avLst>
              <a:gd name="adj" fmla="val 11429"/>
            </a:avLst>
          </a:prstGeom>
          <a:solidFill>
            <a:srgbClr val="FFFFFF"/>
          </a:solidFill>
          <a:ln w="15875">
            <a:solidFill>
              <a:srgbClr val="2563EB"/>
            </a:solidFill>
          </a:ln>
          <a:effectLst>
            <a:outerShdw sx="100000" sy="100000" kx="0" ky="0" algn="bl" rotWithShape="0" blurRad="76200" dist="12700" dir="5400000">
              <a:srgbClr val="0B1026">
                <a:alpha val="8000"/>
              </a:srgbClr>
            </a:outerShdw>
          </a:effectLst>
        </p:spPr>
        <p:txBody>
          <a:bodyPr wrap="square" lIns="38100" tIns="38100" rIns="38100" bIns="38100" rtlCol="0" anchor="ctr"/>
          <a:lstStyle/>
          <a:p>
            <a:pPr algn="ctr" indent="0" marL="0">
              <a:buNone/>
            </a:pPr>
            <a:r>
              <a:rPr lang="en-US" sz="1300" b="1" dirty="0">
                <a:solidFill>
                  <a:srgbClr val="0B1026"/>
                </a:solidFill>
              </a:rPr>
              <a:t>Timeline</a:t>
            </a:r>
            <a:endParaRPr lang="en-US" sz="1300" dirty="0"/>
          </a:p>
        </p:txBody>
      </p:sp>
      <p:sp>
        <p:nvSpPr>
          <p:cNvPr id="8" name="Shape 6"/>
          <p:cNvSpPr/>
          <p:nvPr/>
        </p:nvSpPr>
        <p:spPr>
          <a:xfrm>
            <a:off x="3535680" y="2606040"/>
            <a:ext cx="188976" cy="0"/>
          </a:xfrm>
          <a:prstGeom prst="line">
            <a:avLst/>
          </a:prstGeom>
          <a:noFill/>
          <a:ln w="19050">
            <a:solidFill>
              <a:srgbClr val="2563EB"/>
            </a:solidFill>
            <a:prstDash val="solid"/>
            <a:tailEnd type="triangle"/>
          </a:ln>
        </p:spPr>
      </p:sp>
      <p:sp>
        <p:nvSpPr>
          <p:cNvPr id="9" name="Text 7"/>
          <p:cNvSpPr txBox="1"/>
          <p:nvPr/>
        </p:nvSpPr>
        <p:spPr>
          <a:xfrm>
            <a:off x="3742944" y="2286000"/>
            <a:ext cx="1417320" cy="640080"/>
          </a:xfrm>
          <a:prstGeom prst="roundRect">
            <a:avLst>
              <a:gd name="adj" fmla="val 11429"/>
            </a:avLst>
          </a:prstGeom>
          <a:solidFill>
            <a:srgbClr val="FFFFFF"/>
          </a:solidFill>
          <a:ln w="15875">
            <a:solidFill>
              <a:srgbClr val="2563EB"/>
            </a:solidFill>
          </a:ln>
          <a:effectLst>
            <a:outerShdw sx="100000" sy="100000" kx="0" ky="0" algn="bl" rotWithShape="0" blurRad="76200" dist="12700" dir="5400000">
              <a:srgbClr val="0B1026">
                <a:alpha val="8000"/>
              </a:srgbClr>
            </a:outerShdw>
          </a:effectLst>
        </p:spPr>
        <p:txBody>
          <a:bodyPr wrap="square" lIns="38100" tIns="38100" rIns="38100" bIns="38100" rtlCol="0" anchor="ctr"/>
          <a:lstStyle/>
          <a:p>
            <a:pPr algn="ctr" indent="0" marL="0">
              <a:buNone/>
            </a:pPr>
            <a:r>
              <a:rPr lang="en-US" sz="1300" b="1" dirty="0">
                <a:solidFill>
                  <a:srgbClr val="0B1026"/>
                </a:solidFill>
              </a:rPr>
              <a:t>Hypotheses</a:t>
            </a:r>
            <a:endParaRPr lang="en-US" sz="1300" dirty="0"/>
          </a:p>
        </p:txBody>
      </p:sp>
      <p:sp>
        <p:nvSpPr>
          <p:cNvPr id="10" name="Shape 8"/>
          <p:cNvSpPr/>
          <p:nvPr/>
        </p:nvSpPr>
        <p:spPr>
          <a:xfrm>
            <a:off x="5178552" y="2606040"/>
            <a:ext cx="188976" cy="0"/>
          </a:xfrm>
          <a:prstGeom prst="line">
            <a:avLst/>
          </a:prstGeom>
          <a:noFill/>
          <a:ln w="19050">
            <a:solidFill>
              <a:srgbClr val="2563EB"/>
            </a:solidFill>
            <a:prstDash val="solid"/>
            <a:tailEnd type="triangle"/>
          </a:ln>
        </p:spPr>
      </p:sp>
      <p:sp>
        <p:nvSpPr>
          <p:cNvPr id="11" name="Text 9"/>
          <p:cNvSpPr txBox="1"/>
          <p:nvPr/>
        </p:nvSpPr>
        <p:spPr>
          <a:xfrm>
            <a:off x="5385816" y="2286000"/>
            <a:ext cx="1417320" cy="640080"/>
          </a:xfrm>
          <a:prstGeom prst="roundRect">
            <a:avLst>
              <a:gd name="adj" fmla="val 11429"/>
            </a:avLst>
          </a:prstGeom>
          <a:solidFill>
            <a:srgbClr val="FFFFFF"/>
          </a:solidFill>
          <a:ln w="15875">
            <a:solidFill>
              <a:srgbClr val="2563EB"/>
            </a:solidFill>
          </a:ln>
          <a:effectLst>
            <a:outerShdw sx="100000" sy="100000" kx="0" ky="0" algn="bl" rotWithShape="0" blurRad="76200" dist="12700" dir="5400000">
              <a:srgbClr val="0B1026">
                <a:alpha val="8000"/>
              </a:srgbClr>
            </a:outerShdw>
          </a:effectLst>
        </p:spPr>
        <p:txBody>
          <a:bodyPr wrap="square" lIns="38100" tIns="38100" rIns="38100" bIns="38100" rtlCol="0" anchor="ctr"/>
          <a:lstStyle/>
          <a:p>
            <a:pPr algn="ctr" indent="0" marL="0">
              <a:buNone/>
            </a:pPr>
            <a:r>
              <a:rPr lang="en-US" sz="1300" b="1" dirty="0">
                <a:solidFill>
                  <a:srgbClr val="0B1026"/>
                </a:solidFill>
              </a:rPr>
              <a:t>Investigation</a:t>
            </a:r>
            <a:endParaRPr lang="en-US" sz="1300" dirty="0"/>
          </a:p>
        </p:txBody>
      </p:sp>
      <p:sp>
        <p:nvSpPr>
          <p:cNvPr id="12" name="Shape 10"/>
          <p:cNvSpPr/>
          <p:nvPr/>
        </p:nvSpPr>
        <p:spPr>
          <a:xfrm>
            <a:off x="6821424" y="2606040"/>
            <a:ext cx="188976" cy="0"/>
          </a:xfrm>
          <a:prstGeom prst="line">
            <a:avLst/>
          </a:prstGeom>
          <a:noFill/>
          <a:ln w="19050">
            <a:solidFill>
              <a:srgbClr val="2563EB"/>
            </a:solidFill>
            <a:prstDash val="solid"/>
            <a:tailEnd type="triangle"/>
          </a:ln>
        </p:spPr>
      </p:sp>
      <p:sp>
        <p:nvSpPr>
          <p:cNvPr id="13" name="Text 11"/>
          <p:cNvSpPr txBox="1"/>
          <p:nvPr/>
        </p:nvSpPr>
        <p:spPr>
          <a:xfrm>
            <a:off x="7028688" y="2286000"/>
            <a:ext cx="1417320" cy="640080"/>
          </a:xfrm>
          <a:prstGeom prst="roundRect">
            <a:avLst>
              <a:gd name="adj" fmla="val 11429"/>
            </a:avLst>
          </a:prstGeom>
          <a:solidFill>
            <a:srgbClr val="FFFFFF"/>
          </a:solidFill>
          <a:ln w="15875">
            <a:solidFill>
              <a:srgbClr val="2563EB"/>
            </a:solidFill>
          </a:ln>
          <a:effectLst>
            <a:outerShdw sx="100000" sy="100000" kx="0" ky="0" algn="bl" rotWithShape="0" blurRad="76200" dist="12700" dir="5400000">
              <a:srgbClr val="0B1026">
                <a:alpha val="8000"/>
              </a:srgbClr>
            </a:outerShdw>
          </a:effectLst>
        </p:spPr>
        <p:txBody>
          <a:bodyPr wrap="square" lIns="38100" tIns="38100" rIns="38100" bIns="38100" rtlCol="0" anchor="ctr"/>
          <a:lstStyle/>
          <a:p>
            <a:pPr algn="ctr" indent="0" marL="0">
              <a:buNone/>
            </a:pPr>
            <a:r>
              <a:rPr lang="en-US" sz="1300" b="1" dirty="0">
                <a:solidFill>
                  <a:srgbClr val="0B1026"/>
                </a:solidFill>
              </a:rPr>
              <a:t>Root Cause</a:t>
            </a:r>
            <a:endParaRPr lang="en-US" sz="1300" dirty="0"/>
          </a:p>
        </p:txBody>
      </p:sp>
      <p:sp>
        <p:nvSpPr>
          <p:cNvPr id="14" name="Shape 12"/>
          <p:cNvSpPr/>
          <p:nvPr/>
        </p:nvSpPr>
        <p:spPr>
          <a:xfrm>
            <a:off x="8464296" y="2606040"/>
            <a:ext cx="188976" cy="0"/>
          </a:xfrm>
          <a:prstGeom prst="line">
            <a:avLst/>
          </a:prstGeom>
          <a:noFill/>
          <a:ln w="19050">
            <a:solidFill>
              <a:srgbClr val="2563EB"/>
            </a:solidFill>
            <a:prstDash val="solid"/>
            <a:tailEnd type="triangle"/>
          </a:ln>
        </p:spPr>
      </p:sp>
      <p:sp>
        <p:nvSpPr>
          <p:cNvPr id="15" name="Text 13"/>
          <p:cNvSpPr txBox="1"/>
          <p:nvPr/>
        </p:nvSpPr>
        <p:spPr>
          <a:xfrm>
            <a:off x="8671560" y="2286000"/>
            <a:ext cx="1417320" cy="640080"/>
          </a:xfrm>
          <a:prstGeom prst="roundRect">
            <a:avLst>
              <a:gd name="adj" fmla="val 11429"/>
            </a:avLst>
          </a:prstGeom>
          <a:solidFill>
            <a:srgbClr val="FFFFFF"/>
          </a:solidFill>
          <a:ln w="15875">
            <a:solidFill>
              <a:srgbClr val="2563EB"/>
            </a:solidFill>
          </a:ln>
          <a:effectLst>
            <a:outerShdw sx="100000" sy="100000" kx="0" ky="0" algn="bl" rotWithShape="0" blurRad="76200" dist="12700" dir="5400000">
              <a:srgbClr val="0B1026">
                <a:alpha val="8000"/>
              </a:srgbClr>
            </a:outerShdw>
          </a:effectLst>
        </p:spPr>
        <p:txBody>
          <a:bodyPr wrap="square" lIns="38100" tIns="38100" rIns="38100" bIns="38100" rtlCol="0" anchor="ctr"/>
          <a:lstStyle/>
          <a:p>
            <a:pPr algn="ctr" indent="0" marL="0">
              <a:buNone/>
            </a:pPr>
            <a:r>
              <a:rPr lang="en-US" sz="1300" b="1" dirty="0">
                <a:solidFill>
                  <a:srgbClr val="0B1026"/>
                </a:solidFill>
              </a:rPr>
              <a:t>Recovery Plan</a:t>
            </a:r>
            <a:endParaRPr lang="en-US" sz="1300" dirty="0"/>
          </a:p>
        </p:txBody>
      </p:sp>
      <p:sp>
        <p:nvSpPr>
          <p:cNvPr id="16" name="Shape 14"/>
          <p:cNvSpPr/>
          <p:nvPr/>
        </p:nvSpPr>
        <p:spPr>
          <a:xfrm>
            <a:off x="10107168" y="2606040"/>
            <a:ext cx="188976" cy="0"/>
          </a:xfrm>
          <a:prstGeom prst="line">
            <a:avLst/>
          </a:prstGeom>
          <a:noFill/>
          <a:ln w="19050">
            <a:solidFill>
              <a:srgbClr val="2563EB"/>
            </a:solidFill>
            <a:prstDash val="solid"/>
            <a:tailEnd type="triangle"/>
          </a:ln>
        </p:spPr>
      </p:sp>
      <p:sp>
        <p:nvSpPr>
          <p:cNvPr id="17" name="Text 15"/>
          <p:cNvSpPr txBox="1"/>
          <p:nvPr/>
        </p:nvSpPr>
        <p:spPr>
          <a:xfrm>
            <a:off x="10314432" y="2286000"/>
            <a:ext cx="1417320" cy="640080"/>
          </a:xfrm>
          <a:prstGeom prst="roundRect">
            <a:avLst>
              <a:gd name="adj" fmla="val 11429"/>
            </a:avLst>
          </a:prstGeom>
          <a:solidFill>
            <a:srgbClr val="FFFFFF"/>
          </a:solidFill>
          <a:ln w="15875">
            <a:solidFill>
              <a:srgbClr val="2563EB"/>
            </a:solidFill>
          </a:ln>
          <a:effectLst>
            <a:outerShdw sx="100000" sy="100000" kx="0" ky="0" algn="bl" rotWithShape="0" blurRad="76200" dist="12700" dir="5400000">
              <a:srgbClr val="0B1026">
                <a:alpha val="8000"/>
              </a:srgbClr>
            </a:outerShdw>
          </a:effectLst>
        </p:spPr>
        <p:txBody>
          <a:bodyPr wrap="square" lIns="38100" tIns="38100" rIns="38100" bIns="38100" rtlCol="0" anchor="ctr"/>
          <a:lstStyle/>
          <a:p>
            <a:pPr algn="ctr" indent="0" marL="0">
              <a:buNone/>
            </a:pPr>
            <a:r>
              <a:rPr lang="en-US" sz="1300" b="1" dirty="0">
                <a:solidFill>
                  <a:srgbClr val="0B1026"/>
                </a:solidFill>
              </a:rPr>
              <a:t>Verification</a:t>
            </a:r>
            <a:endParaRPr lang="en-US" sz="1300" dirty="0"/>
          </a:p>
        </p:txBody>
      </p:sp>
      <p:sp>
        <p:nvSpPr>
          <p:cNvPr id="18" name="Shape 16"/>
          <p:cNvSpPr/>
          <p:nvPr/>
        </p:nvSpPr>
        <p:spPr>
          <a:xfrm>
            <a:off x="11023092" y="2944368"/>
            <a:ext cx="0" cy="347472"/>
          </a:xfrm>
          <a:prstGeom prst="line">
            <a:avLst/>
          </a:prstGeom>
          <a:noFill/>
          <a:ln w="19050">
            <a:solidFill>
              <a:srgbClr val="7C3AED"/>
            </a:solidFill>
            <a:prstDash val="solid"/>
          </a:ln>
        </p:spPr>
      </p:sp>
      <p:sp>
        <p:nvSpPr>
          <p:cNvPr id="19" name="Shape 17"/>
          <p:cNvSpPr/>
          <p:nvPr/>
        </p:nvSpPr>
        <p:spPr>
          <a:xfrm flipH="1">
            <a:off x="4451604" y="3291840"/>
            <a:ext cx="6571488" cy="0"/>
          </a:xfrm>
          <a:prstGeom prst="line">
            <a:avLst/>
          </a:prstGeom>
          <a:noFill/>
          <a:ln w="19050">
            <a:solidFill>
              <a:srgbClr val="7C3AED"/>
            </a:solidFill>
            <a:prstDash val="solid"/>
          </a:ln>
        </p:spPr>
      </p:sp>
      <p:sp>
        <p:nvSpPr>
          <p:cNvPr id="20" name="Shape 18"/>
          <p:cNvSpPr/>
          <p:nvPr/>
        </p:nvSpPr>
        <p:spPr>
          <a:xfrm flipV="1">
            <a:off x="4451604" y="2962656"/>
            <a:ext cx="0" cy="329184"/>
          </a:xfrm>
          <a:prstGeom prst="line">
            <a:avLst/>
          </a:prstGeom>
          <a:noFill/>
          <a:ln w="19050">
            <a:solidFill>
              <a:srgbClr val="7C3AED"/>
            </a:solidFill>
            <a:prstDash val="solid"/>
            <a:tailEnd type="triangle"/>
          </a:ln>
        </p:spPr>
      </p:sp>
      <p:sp>
        <p:nvSpPr>
          <p:cNvPr id="21" name="Text 19"/>
          <p:cNvSpPr txBox="1"/>
          <p:nvPr/>
        </p:nvSpPr>
        <p:spPr>
          <a:xfrm>
            <a:off x="5120640" y="3163824"/>
            <a:ext cx="3931920" cy="256032"/>
          </a:xfrm>
          <a:prstGeom prst="rect">
            <a:avLst>
              <a:gd name="adj" fmla="val 28571"/>
            </a:avLst>
          </a:prstGeom>
          <a:solidFill>
            <a:srgbClr val="FFFFFF"/>
          </a:solidFill>
          <a:ln w="12700">
            <a:solidFill>
              <a:srgbClr val="FFFFFF"/>
            </a:solidFill>
          </a:ln>
        </p:spPr>
        <p:txBody>
          <a:bodyPr wrap="square" lIns="0" tIns="0" rIns="0" bIns="0" rtlCol="0" anchor="ctr"/>
          <a:lstStyle/>
          <a:p>
            <a:pPr algn="ctr" indent="0" marL="0">
              <a:buNone/>
            </a:pPr>
            <a:r>
              <a:rPr lang="en-US" sz="1200" i="1" dirty="0">
                <a:solidFill>
                  <a:srgbClr val="4A5578"/>
                </a:solidFill>
              </a:rPr>
              <a:t>Replan if new evidence arrives or a fix fails</a:t>
            </a:r>
            <a:endParaRPr lang="en-US" sz="1200" dirty="0"/>
          </a:p>
        </p:txBody>
      </p:sp>
      <p:sp>
        <p:nvSpPr>
          <p:cNvPr id="22" name="Shape 20"/>
          <p:cNvSpPr/>
          <p:nvPr/>
        </p:nvSpPr>
        <p:spPr>
          <a:xfrm>
            <a:off x="457200" y="3703320"/>
            <a:ext cx="2612898" cy="1828800"/>
          </a:xfrm>
          <a:prstGeom prst="roundRect">
            <a:avLst>
              <a:gd name="adj" fmla="val 4000"/>
            </a:avLst>
          </a:prstGeom>
          <a:solidFill>
            <a:srgbClr val="FFFFFF"/>
          </a:solidFill>
          <a:ln w="12700">
            <a:solidFill>
              <a:srgbClr val="D6DCF0"/>
            </a:solidFill>
            <a:prstDash val="solid"/>
          </a:ln>
          <a:effectLst>
            <a:outerShdw sx="100000" sy="100000" kx="0" ky="0" algn="bl" rotWithShape="0" blurRad="76200" dist="12700" dir="5400000">
              <a:srgbClr val="0B1026">
                <a:alpha val="8000"/>
              </a:srgbClr>
            </a:outerShdw>
          </a:effectLst>
        </p:spPr>
      </p:sp>
      <p:sp>
        <p:nvSpPr>
          <p:cNvPr id="23" name="Shape 21"/>
          <p:cNvSpPr/>
          <p:nvPr/>
        </p:nvSpPr>
        <p:spPr>
          <a:xfrm>
            <a:off x="630936" y="3739896"/>
            <a:ext cx="566928" cy="566928"/>
          </a:xfrm>
          <a:prstGeom prst="ellipse">
            <a:avLst>
              <a:gd name="adj" fmla="val 12903"/>
            </a:avLst>
          </a:prstGeom>
          <a:solidFill>
            <a:srgbClr val="E0E7FF"/>
          </a:solidFill>
          <a:ln w="12700">
            <a:solidFill>
              <a:srgbClr val="E0E7FF"/>
            </a:solidFill>
            <a:prstDash val="solid"/>
          </a:ln>
        </p:spPr>
      </p:sp>
      <p:sp>
        <p:nvSpPr>
          <p:cNvPr id="24" name="Shape 22"/>
          <p:cNvSpPr/>
          <p:nvPr/>
        </p:nvSpPr>
        <p:spPr>
          <a:xfrm flipH="1">
            <a:off x="804672" y="3931920"/>
            <a:ext cx="109728" cy="173736"/>
          </a:xfrm>
          <a:prstGeom prst="line">
            <a:avLst/>
          </a:prstGeom>
          <a:noFill/>
          <a:ln w="15875">
            <a:solidFill>
              <a:srgbClr val="2563EB"/>
            </a:solidFill>
            <a:prstDash val="solid"/>
          </a:ln>
        </p:spPr>
      </p:sp>
      <p:sp>
        <p:nvSpPr>
          <p:cNvPr id="25" name="Shape 23"/>
          <p:cNvSpPr/>
          <p:nvPr/>
        </p:nvSpPr>
        <p:spPr>
          <a:xfrm>
            <a:off x="914400" y="3931920"/>
            <a:ext cx="109728" cy="173736"/>
          </a:xfrm>
          <a:prstGeom prst="line">
            <a:avLst/>
          </a:prstGeom>
          <a:noFill/>
          <a:ln w="15875">
            <a:solidFill>
              <a:srgbClr val="2563EB"/>
            </a:solidFill>
            <a:prstDash val="solid"/>
          </a:ln>
        </p:spPr>
      </p:sp>
      <p:sp>
        <p:nvSpPr>
          <p:cNvPr id="26" name="Shape 24"/>
          <p:cNvSpPr/>
          <p:nvPr/>
        </p:nvSpPr>
        <p:spPr>
          <a:xfrm>
            <a:off x="864108" y="3863340"/>
            <a:ext cx="100584" cy="100584"/>
          </a:xfrm>
          <a:prstGeom prst="ellipse">
            <a:avLst>
              <a:gd name="adj" fmla="val 72727"/>
            </a:avLst>
          </a:prstGeom>
          <a:solidFill>
            <a:srgbClr val="2563EB"/>
          </a:solidFill>
          <a:ln w="12700">
            <a:solidFill>
              <a:srgbClr val="2563EB"/>
            </a:solidFill>
            <a:prstDash val="solid"/>
          </a:ln>
        </p:spPr>
      </p:sp>
      <p:sp>
        <p:nvSpPr>
          <p:cNvPr id="27" name="Shape 25"/>
          <p:cNvSpPr/>
          <p:nvPr/>
        </p:nvSpPr>
        <p:spPr>
          <a:xfrm>
            <a:off x="745236" y="4064508"/>
            <a:ext cx="100584" cy="100584"/>
          </a:xfrm>
          <a:prstGeom prst="ellipse">
            <a:avLst>
              <a:gd name="adj" fmla="val 72727"/>
            </a:avLst>
          </a:prstGeom>
          <a:solidFill>
            <a:srgbClr val="2563EB"/>
          </a:solidFill>
          <a:ln w="12700">
            <a:solidFill>
              <a:srgbClr val="2563EB"/>
            </a:solidFill>
            <a:prstDash val="solid"/>
          </a:ln>
        </p:spPr>
      </p:sp>
      <p:sp>
        <p:nvSpPr>
          <p:cNvPr id="28" name="Shape 26"/>
          <p:cNvSpPr/>
          <p:nvPr/>
        </p:nvSpPr>
        <p:spPr>
          <a:xfrm>
            <a:off x="982980" y="4064508"/>
            <a:ext cx="100584" cy="100584"/>
          </a:xfrm>
          <a:prstGeom prst="ellipse">
            <a:avLst>
              <a:gd name="adj" fmla="val 72727"/>
            </a:avLst>
          </a:prstGeom>
          <a:solidFill>
            <a:srgbClr val="2563EB"/>
          </a:solidFill>
          <a:ln w="12700">
            <a:solidFill>
              <a:srgbClr val="2563EB"/>
            </a:solidFill>
            <a:prstDash val="solid"/>
          </a:ln>
        </p:spPr>
      </p:sp>
      <p:sp>
        <p:nvSpPr>
          <p:cNvPr id="29" name="Text 27"/>
          <p:cNvSpPr txBox="1"/>
          <p:nvPr/>
        </p:nvSpPr>
        <p:spPr>
          <a:xfrm>
            <a:off x="640080" y="4343400"/>
            <a:ext cx="2338578" cy="457200"/>
          </a:xfrm>
          <a:prstGeom prst="rect">
            <a:avLst/>
          </a:prstGeom>
          <a:noFill/>
          <a:ln/>
        </p:spPr>
        <p:txBody>
          <a:bodyPr wrap="square" lIns="0" tIns="0" rIns="0" bIns="0" rtlCol="0" anchor="b"/>
          <a:lstStyle/>
          <a:p>
            <a:pPr algn="l" indent="0" marL="0">
              <a:buNone/>
            </a:pPr>
            <a:r>
              <a:rPr lang="en-US" sz="1300" b="1" dirty="0">
                <a:solidFill>
                  <a:srgbClr val="0B1026"/>
                </a:solidFill>
              </a:rPr>
              <a:t>Hypothesis-driven</a:t>
            </a:r>
            <a:endParaRPr lang="en-US" sz="1300" dirty="0"/>
          </a:p>
        </p:txBody>
      </p:sp>
      <p:sp>
        <p:nvSpPr>
          <p:cNvPr id="30" name="Text 28"/>
          <p:cNvSpPr txBox="1"/>
          <p:nvPr/>
        </p:nvSpPr>
        <p:spPr>
          <a:xfrm>
            <a:off x="640080" y="4846320"/>
            <a:ext cx="2247138" cy="640080"/>
          </a:xfrm>
          <a:prstGeom prst="rect">
            <a:avLst/>
          </a:prstGeom>
          <a:noFill/>
          <a:ln/>
        </p:spPr>
        <p:txBody>
          <a:bodyPr wrap="square" lIns="0" tIns="0" rIns="0" bIns="0" rtlCol="0" anchor="t"/>
          <a:lstStyle/>
          <a:p>
            <a:pPr algn="l" indent="0" marL="0">
              <a:buNone/>
            </a:pPr>
            <a:r>
              <a:rPr lang="en-US" sz="1200" dirty="0">
                <a:solidFill>
                  <a:srgbClr val="4A5578"/>
                </a:solidFill>
              </a:rPr>
              <a:t>Several competing explanations stay alive, never one early guess.</a:t>
            </a:r>
            <a:endParaRPr lang="en-US" sz="1200" dirty="0"/>
          </a:p>
        </p:txBody>
      </p:sp>
      <p:sp>
        <p:nvSpPr>
          <p:cNvPr id="31" name="Shape 29"/>
          <p:cNvSpPr/>
          <p:nvPr/>
        </p:nvSpPr>
        <p:spPr>
          <a:xfrm>
            <a:off x="3344418" y="3703320"/>
            <a:ext cx="2612898" cy="1828800"/>
          </a:xfrm>
          <a:prstGeom prst="roundRect">
            <a:avLst>
              <a:gd name="adj" fmla="val 4000"/>
            </a:avLst>
          </a:prstGeom>
          <a:solidFill>
            <a:srgbClr val="FFFFFF"/>
          </a:solidFill>
          <a:ln w="12700">
            <a:solidFill>
              <a:srgbClr val="D6DCF0"/>
            </a:solidFill>
            <a:prstDash val="solid"/>
          </a:ln>
          <a:effectLst>
            <a:outerShdw sx="100000" sy="100000" kx="0" ky="0" algn="bl" rotWithShape="0" blurRad="76200" dist="12700" dir="5400000">
              <a:srgbClr val="0B1026">
                <a:alpha val="8000"/>
              </a:srgbClr>
            </a:outerShdw>
          </a:effectLst>
        </p:spPr>
      </p:sp>
      <p:sp>
        <p:nvSpPr>
          <p:cNvPr id="32" name="Shape 30"/>
          <p:cNvSpPr/>
          <p:nvPr/>
        </p:nvSpPr>
        <p:spPr>
          <a:xfrm>
            <a:off x="3518154" y="3739896"/>
            <a:ext cx="566928" cy="566928"/>
          </a:xfrm>
          <a:prstGeom prst="ellipse">
            <a:avLst>
              <a:gd name="adj" fmla="val 12903"/>
            </a:avLst>
          </a:prstGeom>
          <a:solidFill>
            <a:srgbClr val="E0E7FF"/>
          </a:solidFill>
          <a:ln w="12700">
            <a:solidFill>
              <a:srgbClr val="E0E7FF"/>
            </a:solidFill>
            <a:prstDash val="solid"/>
          </a:ln>
        </p:spPr>
      </p:sp>
      <p:sp>
        <p:nvSpPr>
          <p:cNvPr id="33" name="Shape 31"/>
          <p:cNvSpPr/>
          <p:nvPr/>
        </p:nvSpPr>
        <p:spPr>
          <a:xfrm>
            <a:off x="3682746" y="3904488"/>
            <a:ext cx="201168" cy="201168"/>
          </a:xfrm>
          <a:prstGeom prst="ellipse">
            <a:avLst>
              <a:gd name="adj" fmla="val 36364"/>
            </a:avLst>
          </a:prstGeom>
          <a:solidFill>
            <a:srgbClr val="FFFFFF"/>
          </a:solidFill>
          <a:ln w="25400">
            <a:solidFill>
              <a:srgbClr val="2563EB"/>
            </a:solidFill>
            <a:prstDash val="solid"/>
          </a:ln>
        </p:spPr>
      </p:sp>
      <p:sp>
        <p:nvSpPr>
          <p:cNvPr id="34" name="Shape 32"/>
          <p:cNvSpPr/>
          <p:nvPr/>
        </p:nvSpPr>
        <p:spPr>
          <a:xfrm>
            <a:off x="3856482" y="4078224"/>
            <a:ext cx="82296" cy="82296"/>
          </a:xfrm>
          <a:prstGeom prst="line">
            <a:avLst/>
          </a:prstGeom>
          <a:noFill/>
          <a:ln w="31750">
            <a:solidFill>
              <a:srgbClr val="2563EB"/>
            </a:solidFill>
            <a:prstDash val="solid"/>
          </a:ln>
        </p:spPr>
      </p:sp>
      <p:sp>
        <p:nvSpPr>
          <p:cNvPr id="35" name="Text 33"/>
          <p:cNvSpPr txBox="1"/>
          <p:nvPr/>
        </p:nvSpPr>
        <p:spPr>
          <a:xfrm>
            <a:off x="3527298" y="4343400"/>
            <a:ext cx="2338578" cy="457200"/>
          </a:xfrm>
          <a:prstGeom prst="rect">
            <a:avLst/>
          </a:prstGeom>
          <a:noFill/>
          <a:ln/>
        </p:spPr>
        <p:txBody>
          <a:bodyPr wrap="square" lIns="0" tIns="0" rIns="0" bIns="0" rtlCol="0" anchor="b"/>
          <a:lstStyle/>
          <a:p>
            <a:pPr algn="l" indent="0" marL="0">
              <a:buNone/>
            </a:pPr>
            <a:r>
              <a:rPr lang="en-US" sz="1300" b="1" dirty="0">
                <a:solidFill>
                  <a:srgbClr val="0B1026"/>
                </a:solidFill>
              </a:rPr>
              <a:t>Traceable evidence</a:t>
            </a:r>
            <a:endParaRPr lang="en-US" sz="1300" dirty="0"/>
          </a:p>
        </p:txBody>
      </p:sp>
      <p:sp>
        <p:nvSpPr>
          <p:cNvPr id="36" name="Text 34"/>
          <p:cNvSpPr txBox="1"/>
          <p:nvPr/>
        </p:nvSpPr>
        <p:spPr>
          <a:xfrm>
            <a:off x="3527298" y="4846320"/>
            <a:ext cx="2247138" cy="640080"/>
          </a:xfrm>
          <a:prstGeom prst="rect">
            <a:avLst/>
          </a:prstGeom>
          <a:noFill/>
          <a:ln/>
        </p:spPr>
        <p:txBody>
          <a:bodyPr wrap="square" lIns="0" tIns="0" rIns="0" bIns="0" rtlCol="0" anchor="t"/>
          <a:lstStyle/>
          <a:p>
            <a:pPr algn="l" indent="0" marL="0">
              <a:buNone/>
            </a:pPr>
            <a:r>
              <a:rPr lang="en-US" sz="1200" dirty="0">
                <a:solidFill>
                  <a:srgbClr val="4A5578"/>
                </a:solidFill>
              </a:rPr>
              <a:t>Every claim cites evidence IDs, with support and contradiction shown.</a:t>
            </a:r>
            <a:endParaRPr lang="en-US" sz="1200" dirty="0"/>
          </a:p>
        </p:txBody>
      </p:sp>
      <p:sp>
        <p:nvSpPr>
          <p:cNvPr id="37" name="Shape 35"/>
          <p:cNvSpPr/>
          <p:nvPr/>
        </p:nvSpPr>
        <p:spPr>
          <a:xfrm>
            <a:off x="6231636" y="3703320"/>
            <a:ext cx="2612898" cy="1828800"/>
          </a:xfrm>
          <a:prstGeom prst="roundRect">
            <a:avLst>
              <a:gd name="adj" fmla="val 4000"/>
            </a:avLst>
          </a:prstGeom>
          <a:solidFill>
            <a:srgbClr val="FFFFFF"/>
          </a:solidFill>
          <a:ln w="12700">
            <a:solidFill>
              <a:srgbClr val="D6DCF0"/>
            </a:solidFill>
            <a:prstDash val="solid"/>
          </a:ln>
          <a:effectLst>
            <a:outerShdw sx="100000" sy="100000" kx="0" ky="0" algn="bl" rotWithShape="0" blurRad="76200" dist="12700" dir="5400000">
              <a:srgbClr val="0B1026">
                <a:alpha val="8000"/>
              </a:srgbClr>
            </a:outerShdw>
          </a:effectLst>
        </p:spPr>
      </p:sp>
      <p:sp>
        <p:nvSpPr>
          <p:cNvPr id="38" name="Shape 36"/>
          <p:cNvSpPr/>
          <p:nvPr/>
        </p:nvSpPr>
        <p:spPr>
          <a:xfrm>
            <a:off x="6405372" y="3739896"/>
            <a:ext cx="566928" cy="566928"/>
          </a:xfrm>
          <a:prstGeom prst="ellipse">
            <a:avLst>
              <a:gd name="adj" fmla="val 12903"/>
            </a:avLst>
          </a:prstGeom>
          <a:solidFill>
            <a:srgbClr val="E0E7FF"/>
          </a:solidFill>
          <a:ln w="12700">
            <a:solidFill>
              <a:srgbClr val="E0E7FF"/>
            </a:solidFill>
            <a:prstDash val="solid"/>
          </a:ln>
        </p:spPr>
      </p:sp>
      <p:sp>
        <p:nvSpPr>
          <p:cNvPr id="39" name="Shape 37"/>
          <p:cNvSpPr/>
          <p:nvPr/>
        </p:nvSpPr>
        <p:spPr>
          <a:xfrm>
            <a:off x="6551676" y="4069080"/>
            <a:ext cx="73152" cy="91440"/>
          </a:xfrm>
          <a:prstGeom prst="rect">
            <a:avLst>
              <a:gd name="adj" fmla="val 100000"/>
            </a:avLst>
          </a:prstGeom>
          <a:solidFill>
            <a:srgbClr val="2563EB"/>
          </a:solidFill>
          <a:ln w="12700">
            <a:solidFill>
              <a:srgbClr val="2563EB"/>
            </a:solidFill>
            <a:prstDash val="solid"/>
          </a:ln>
        </p:spPr>
      </p:sp>
      <p:sp>
        <p:nvSpPr>
          <p:cNvPr id="40" name="Shape 38"/>
          <p:cNvSpPr/>
          <p:nvPr/>
        </p:nvSpPr>
        <p:spPr>
          <a:xfrm>
            <a:off x="6652260" y="3977640"/>
            <a:ext cx="73152" cy="182880"/>
          </a:xfrm>
          <a:prstGeom prst="rect">
            <a:avLst>
              <a:gd name="adj" fmla="val 100000"/>
            </a:avLst>
          </a:prstGeom>
          <a:solidFill>
            <a:srgbClr val="2563EB"/>
          </a:solidFill>
          <a:ln w="12700">
            <a:solidFill>
              <a:srgbClr val="2563EB"/>
            </a:solidFill>
            <a:prstDash val="solid"/>
          </a:ln>
        </p:spPr>
      </p:sp>
      <p:sp>
        <p:nvSpPr>
          <p:cNvPr id="41" name="Shape 39"/>
          <p:cNvSpPr/>
          <p:nvPr/>
        </p:nvSpPr>
        <p:spPr>
          <a:xfrm>
            <a:off x="6752844" y="3886200"/>
            <a:ext cx="73152" cy="274320"/>
          </a:xfrm>
          <a:prstGeom prst="rect">
            <a:avLst>
              <a:gd name="adj" fmla="val 100000"/>
            </a:avLst>
          </a:prstGeom>
          <a:solidFill>
            <a:srgbClr val="2563EB"/>
          </a:solidFill>
          <a:ln w="12700">
            <a:solidFill>
              <a:srgbClr val="2563EB"/>
            </a:solidFill>
            <a:prstDash val="solid"/>
          </a:ln>
        </p:spPr>
      </p:sp>
      <p:sp>
        <p:nvSpPr>
          <p:cNvPr id="42" name="Text 40"/>
          <p:cNvSpPr txBox="1"/>
          <p:nvPr/>
        </p:nvSpPr>
        <p:spPr>
          <a:xfrm>
            <a:off x="6414516" y="4343400"/>
            <a:ext cx="2338578" cy="457200"/>
          </a:xfrm>
          <a:prstGeom prst="rect">
            <a:avLst/>
          </a:prstGeom>
          <a:noFill/>
          <a:ln/>
        </p:spPr>
        <p:txBody>
          <a:bodyPr wrap="square" lIns="0" tIns="0" rIns="0" bIns="0" rtlCol="0" anchor="b"/>
          <a:lstStyle/>
          <a:p>
            <a:pPr algn="l" indent="0" marL="0">
              <a:buNone/>
            </a:pPr>
            <a:r>
              <a:rPr lang="en-US" sz="1300" b="1" dirty="0">
                <a:solidFill>
                  <a:srgbClr val="0B1026"/>
                </a:solidFill>
              </a:rPr>
              <a:t>Confidence computed in code</a:t>
            </a:r>
            <a:endParaRPr lang="en-US" sz="1300" dirty="0"/>
          </a:p>
        </p:txBody>
      </p:sp>
      <p:sp>
        <p:nvSpPr>
          <p:cNvPr id="43" name="Text 41"/>
          <p:cNvSpPr txBox="1"/>
          <p:nvPr/>
        </p:nvSpPr>
        <p:spPr>
          <a:xfrm>
            <a:off x="6414516" y="4846320"/>
            <a:ext cx="2247138" cy="640080"/>
          </a:xfrm>
          <a:prstGeom prst="rect">
            <a:avLst/>
          </a:prstGeom>
          <a:noFill/>
          <a:ln/>
        </p:spPr>
        <p:txBody>
          <a:bodyPr wrap="square" lIns="0" tIns="0" rIns="0" bIns="0" rtlCol="0" anchor="t"/>
          <a:lstStyle/>
          <a:p>
            <a:pPr algn="l" indent="0" marL="0">
              <a:buNone/>
            </a:pPr>
            <a:r>
              <a:rPr lang="en-US" sz="1200" dirty="0">
                <a:solidFill>
                  <a:srgbClr val="4A5578"/>
                </a:solidFill>
              </a:rPr>
              <a:t>Scores come from evidence, timing and dependencies, not LLM opinion.</a:t>
            </a:r>
            <a:endParaRPr lang="en-US" sz="1200" dirty="0"/>
          </a:p>
        </p:txBody>
      </p:sp>
      <p:sp>
        <p:nvSpPr>
          <p:cNvPr id="44" name="Shape 42"/>
          <p:cNvSpPr/>
          <p:nvPr/>
        </p:nvSpPr>
        <p:spPr>
          <a:xfrm>
            <a:off x="9118854" y="3703320"/>
            <a:ext cx="2612898" cy="1828800"/>
          </a:xfrm>
          <a:prstGeom prst="roundRect">
            <a:avLst>
              <a:gd name="adj" fmla="val 4000"/>
            </a:avLst>
          </a:prstGeom>
          <a:solidFill>
            <a:srgbClr val="FFFFFF"/>
          </a:solidFill>
          <a:ln w="12700">
            <a:solidFill>
              <a:srgbClr val="D6DCF0"/>
            </a:solidFill>
            <a:prstDash val="solid"/>
          </a:ln>
          <a:effectLst>
            <a:outerShdw sx="100000" sy="100000" kx="0" ky="0" algn="bl" rotWithShape="0" blurRad="76200" dist="12700" dir="5400000">
              <a:srgbClr val="0B1026">
                <a:alpha val="8000"/>
              </a:srgbClr>
            </a:outerShdw>
          </a:effectLst>
        </p:spPr>
      </p:sp>
      <p:sp>
        <p:nvSpPr>
          <p:cNvPr id="45" name="Shape 43"/>
          <p:cNvSpPr/>
          <p:nvPr/>
        </p:nvSpPr>
        <p:spPr>
          <a:xfrm>
            <a:off x="9292590" y="3739896"/>
            <a:ext cx="566928" cy="566928"/>
          </a:xfrm>
          <a:prstGeom prst="ellipse">
            <a:avLst>
              <a:gd name="adj" fmla="val 12903"/>
            </a:avLst>
          </a:prstGeom>
          <a:solidFill>
            <a:srgbClr val="FEF3C7"/>
          </a:solidFill>
          <a:ln w="12700">
            <a:solidFill>
              <a:srgbClr val="D97706"/>
            </a:solidFill>
            <a:prstDash val="solid"/>
          </a:ln>
        </p:spPr>
      </p:sp>
      <p:sp>
        <p:nvSpPr>
          <p:cNvPr id="46" name="Shape 44"/>
          <p:cNvSpPr/>
          <p:nvPr/>
        </p:nvSpPr>
        <p:spPr>
          <a:xfrm>
            <a:off x="9466326" y="4032504"/>
            <a:ext cx="73152" cy="82296"/>
          </a:xfrm>
          <a:prstGeom prst="line">
            <a:avLst/>
          </a:prstGeom>
          <a:noFill/>
          <a:ln w="31750">
            <a:solidFill>
              <a:srgbClr val="D97706"/>
            </a:solidFill>
            <a:prstDash val="solid"/>
          </a:ln>
        </p:spPr>
      </p:sp>
      <p:sp>
        <p:nvSpPr>
          <p:cNvPr id="47" name="Shape 45"/>
          <p:cNvSpPr/>
          <p:nvPr/>
        </p:nvSpPr>
        <p:spPr>
          <a:xfrm flipV="1">
            <a:off x="9539478" y="3931920"/>
            <a:ext cx="155448" cy="182880"/>
          </a:xfrm>
          <a:prstGeom prst="line">
            <a:avLst/>
          </a:prstGeom>
          <a:noFill/>
          <a:ln w="31750">
            <a:solidFill>
              <a:srgbClr val="D97706"/>
            </a:solidFill>
            <a:prstDash val="solid"/>
          </a:ln>
        </p:spPr>
      </p:sp>
      <p:sp>
        <p:nvSpPr>
          <p:cNvPr id="48" name="Text 46"/>
          <p:cNvSpPr txBox="1"/>
          <p:nvPr/>
        </p:nvSpPr>
        <p:spPr>
          <a:xfrm>
            <a:off x="9301734" y="4343400"/>
            <a:ext cx="2338578" cy="457200"/>
          </a:xfrm>
          <a:prstGeom prst="rect">
            <a:avLst/>
          </a:prstGeom>
          <a:noFill/>
          <a:ln/>
        </p:spPr>
        <p:txBody>
          <a:bodyPr wrap="square" lIns="0" tIns="0" rIns="0" bIns="0" rtlCol="0" anchor="b"/>
          <a:lstStyle/>
          <a:p>
            <a:pPr algn="l" indent="0" marL="0">
              <a:buNone/>
            </a:pPr>
            <a:r>
              <a:rPr lang="en-US" sz="1300" b="1" dirty="0">
                <a:solidFill>
                  <a:srgbClr val="0B1026"/>
                </a:solidFill>
              </a:rPr>
              <a:t>Safe autonomy</a:t>
            </a:r>
            <a:endParaRPr lang="en-US" sz="1300" dirty="0"/>
          </a:p>
        </p:txBody>
      </p:sp>
      <p:sp>
        <p:nvSpPr>
          <p:cNvPr id="49" name="Text 47"/>
          <p:cNvSpPr txBox="1"/>
          <p:nvPr/>
        </p:nvSpPr>
        <p:spPr>
          <a:xfrm>
            <a:off x="9301734" y="4846320"/>
            <a:ext cx="2247138" cy="640080"/>
          </a:xfrm>
          <a:prstGeom prst="rect">
            <a:avLst/>
          </a:prstGeom>
          <a:noFill/>
          <a:ln/>
        </p:spPr>
        <p:txBody>
          <a:bodyPr wrap="square" lIns="0" tIns="0" rIns="0" bIns="0" rtlCol="0" anchor="t"/>
          <a:lstStyle/>
          <a:p>
            <a:pPr algn="l" indent="0" marL="0">
              <a:buNone/>
            </a:pPr>
            <a:r>
              <a:rPr lang="en-US" sz="1200" dirty="0">
                <a:solidFill>
                  <a:srgbClr val="4A5578"/>
                </a:solidFill>
              </a:rPr>
              <a:t>Risky actions need human approval; recovery is verified.</a:t>
            </a:r>
            <a:endParaRPr lang="en-US" sz="1200" dirty="0"/>
          </a:p>
        </p:txBody>
      </p:sp>
      <p:sp>
        <p:nvSpPr>
          <p:cNvPr id="50" name="Text 48"/>
          <p:cNvSpPr txBox="1"/>
          <p:nvPr/>
        </p:nvSpPr>
        <p:spPr>
          <a:xfrm>
            <a:off x="457200" y="5760720"/>
            <a:ext cx="11274552" cy="457200"/>
          </a:xfrm>
          <a:prstGeom prst="roundRect">
            <a:avLst>
              <a:gd name="adj" fmla="val 16000"/>
            </a:avLst>
          </a:prstGeom>
          <a:solidFill>
            <a:srgbClr val="EDE9FE"/>
          </a:solidFill>
          <a:ln w="12700">
            <a:solidFill>
              <a:srgbClr val="EDE9FE"/>
            </a:solidFill>
          </a:ln>
        </p:spPr>
        <p:txBody>
          <a:bodyPr wrap="square" lIns="101600" tIns="101600" rIns="101600" bIns="101600" rtlCol="0" anchor="ctr"/>
          <a:lstStyle/>
          <a:p>
            <a:pPr algn="ctr" indent="0" marL="0">
              <a:buNone/>
            </a:pPr>
            <a:r>
              <a:rPr lang="en-US" sz="1300" b="1" dirty="0">
                <a:solidFill>
                  <a:srgbClr val="0B1026"/>
                </a:solidFill>
              </a:rPr>
              <a:t>Hybrid AI:  </a:t>
            </a:r>
            <a:pPr algn="ctr" indent="0" marL="0">
              <a:buNone/>
            </a:pPr>
            <a:r>
              <a:rPr lang="en-US" sz="1300" dirty="0">
                <a:solidFill>
                  <a:srgbClr val="0B1026"/>
                </a:solidFill>
              </a:rPr>
              <a:t>statistics detect anomalies  |  LLM agents reason and plan  |  code scores, verifies and enforces guardrails</a:t>
            </a:r>
            <a:endParaRPr lang="en-US" sz="1300" dirty="0"/>
          </a:p>
        </p:txBody>
      </p:sp>
      <p:sp>
        <p:nvSpPr>
          <p:cNvPr id="25" name="Slide Number Placeholder 0"/>
          <p:cNvSpPr>
            <a:spLocks noGrp="1"/>
          </p:cNvSpPr>
          <p:nvPr>
            <p:ph type="sldNum" sz="quarter" idx="4294967295"/>
          </p:nvPr>
        </p:nvSpPr>
        <p:spPr>
          <a:xfrm>
            <a:off x="11000232" y="6492240"/>
            <a:ext cx="731520" cy="256032"/>
          </a:xfrm>
          <a:prstGeom prst="rect">
            <a:avLst/>
          </a:prstGeom>
          <a:extLst>
            <a:ext uri="{C572A759-6A51-4108-AA02-DFA0A04FC94B}">
              <ma14:wrappingTextBoxFlag xmlns:ma14="http://schemas.microsoft.com/office/mac/drawingml/2011/main" val="0"/>
            </a:ext>
          </a:extLst>
        </p:spPr>
        <p:txBody>
          <a:bodyPr anchor="ctr"/>
          <a:lstStyle>
            <a:lvl1pPr>
              <a:defRPr sz="1000">
                <a:solidFill>
                  <a:srgbClr val="4A5578"/>
                </a:solidFill>
              </a:defRPr>
            </a:lvl1pPr>
          </a:lstStyle>
          <a:p>
            <a:pPr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ph idx="100" type="title" hasCustomPrompt="1"/>
          </p:nvPr>
        </p:nvSpPr>
        <p:spPr>
          <a:xfrm>
            <a:off x="457200" y="320040"/>
            <a:ext cx="11274552" cy="914400"/>
          </a:xfrm>
          <a:prstGeom prst="rect">
            <a:avLst/>
          </a:prstGeom>
          <a:noFill/>
          <a:ln/>
        </p:spPr>
        <p:txBody>
          <a:bodyPr wrap="square" lIns="0" tIns="0" rIns="0" bIns="0" rtlCol="0" anchor="b"/>
          <a:lstStyle/>
          <a:p>
            <a:pPr algn="l" indent="0" marL="0">
              <a:buNone/>
            </a:pPr>
            <a:r>
              <a:rPr lang="en-US" sz="2800" dirty="0">
                <a:solidFill>
                  <a:srgbClr val="0B1026"/>
                </a:solidFill>
                <a:latin typeface="Segoe UI Semibold" pitchFamily="34" charset="0"/>
                <a:ea typeface="Segoe UI Semibold" pitchFamily="34" charset="-122"/>
                <a:cs typeface="Segoe UI Semibold" pitchFamily="34" charset="-120"/>
              </a:rPr>
              <a:t>Architecture: evidence in, reasoned and approved action out</a:t>
            </a:r>
            <a:endParaRPr lang="en-US" sz="2800" dirty="0"/>
          </a:p>
        </p:txBody>
      </p:sp>
      <p:sp>
        <p:nvSpPr>
          <p:cNvPr id="3" name="GRAD"/>
          <p:cNvSpPr/>
          <p:nvPr/>
        </p:nvSpPr>
        <p:spPr>
          <a:xfrm>
            <a:off x="457200" y="1325880"/>
            <a:ext cx="1463040" cy="45720"/>
          </a:xfrm>
          <a:prstGeom prst="rect">
            <a:avLst/>
          </a:prstGeom>
          <a:gradFill rotWithShape="1">
            <a:gsLst>
              <a:gs pos="0">
                <a:srgbClr val="2563EB"/>
              </a:gs>
              <a:gs pos="100000">
                <a:srgbClr val="7C3AED"/>
              </a:gs>
            </a:gsLst>
            <a:lin ang="0" scaled="0"/>
          </a:gradFill>
          <a:ln w="12700">
            <a:solidFill>
              <a:srgbClr val="2563EB"/>
            </a:solidFill>
            <a:prstDash val="solid"/>
          </a:ln>
        </p:spPr>
      </p:sp>
      <p:sp>
        <p:nvSpPr>
          <p:cNvPr id="4" name="GRAD"/>
          <p:cNvSpPr/>
          <p:nvPr/>
        </p:nvSpPr>
        <p:spPr>
          <a:xfrm>
            <a:off x="457200" y="1508760"/>
            <a:ext cx="292608" cy="182880"/>
          </a:xfrm>
          <a:prstGeom prst="roundRect">
            <a:avLst>
              <a:gd name="adj" fmla="val 20000"/>
            </a:avLst>
          </a:prstGeom>
          <a:gradFill rotWithShape="1">
            <a:gsLst>
              <a:gs pos="0">
                <a:srgbClr val="2563EB"/>
              </a:gs>
              <a:gs pos="100000">
                <a:srgbClr val="7C3AED"/>
              </a:gs>
            </a:gsLst>
            <a:lin ang="0" scaled="0"/>
          </a:gradFill>
          <a:ln w="12700">
            <a:solidFill>
              <a:srgbClr val="2563EB"/>
            </a:solidFill>
            <a:prstDash val="solid"/>
          </a:ln>
        </p:spPr>
      </p:sp>
      <p:sp>
        <p:nvSpPr>
          <p:cNvPr id="5" name="Text 3"/>
          <p:cNvSpPr txBox="1"/>
          <p:nvPr/>
        </p:nvSpPr>
        <p:spPr>
          <a:xfrm>
            <a:off x="841248" y="1481328"/>
            <a:ext cx="1737360" cy="237744"/>
          </a:xfrm>
          <a:prstGeom prst="rect">
            <a:avLst/>
          </a:prstGeom>
          <a:noFill/>
          <a:ln/>
        </p:spPr>
        <p:txBody>
          <a:bodyPr wrap="square" lIns="0" tIns="0" rIns="0" bIns="0" rtlCol="0" anchor="ctr"/>
          <a:lstStyle/>
          <a:p>
            <a:pPr algn="l" indent="0" marL="0">
              <a:buNone/>
            </a:pPr>
            <a:r>
              <a:rPr lang="en-US" sz="1200" dirty="0">
                <a:solidFill>
                  <a:srgbClr val="4A5578"/>
                </a:solidFill>
              </a:rPr>
              <a:t>LLM agent</a:t>
            </a:r>
            <a:endParaRPr lang="en-US" sz="1200" dirty="0"/>
          </a:p>
        </p:txBody>
      </p:sp>
      <p:sp>
        <p:nvSpPr>
          <p:cNvPr id="6" name="Shape 4"/>
          <p:cNvSpPr/>
          <p:nvPr/>
        </p:nvSpPr>
        <p:spPr>
          <a:xfrm>
            <a:off x="2194560" y="1508760"/>
            <a:ext cx="292608" cy="182880"/>
          </a:xfrm>
          <a:prstGeom prst="roundRect">
            <a:avLst>
              <a:gd name="adj" fmla="val 20000"/>
            </a:avLst>
          </a:prstGeom>
          <a:solidFill>
            <a:srgbClr val="FFFFFF"/>
          </a:solidFill>
          <a:ln w="19050">
            <a:solidFill>
              <a:srgbClr val="0891B2"/>
            </a:solidFill>
            <a:prstDash val="solid"/>
          </a:ln>
        </p:spPr>
      </p:sp>
      <p:sp>
        <p:nvSpPr>
          <p:cNvPr id="7" name="Text 5"/>
          <p:cNvSpPr txBox="1"/>
          <p:nvPr/>
        </p:nvSpPr>
        <p:spPr>
          <a:xfrm>
            <a:off x="2578608" y="1481328"/>
            <a:ext cx="1737360" cy="237744"/>
          </a:xfrm>
          <a:prstGeom prst="rect">
            <a:avLst/>
          </a:prstGeom>
          <a:noFill/>
          <a:ln/>
        </p:spPr>
        <p:txBody>
          <a:bodyPr wrap="square" lIns="0" tIns="0" rIns="0" bIns="0" rtlCol="0" anchor="ctr"/>
          <a:lstStyle/>
          <a:p>
            <a:pPr algn="l" indent="0" marL="0">
              <a:buNone/>
            </a:pPr>
            <a:r>
              <a:rPr lang="en-US" sz="1200" dirty="0">
                <a:solidFill>
                  <a:srgbClr val="4A5578"/>
                </a:solidFill>
              </a:rPr>
              <a:t>Plain-code module</a:t>
            </a:r>
            <a:endParaRPr lang="en-US" sz="1200" dirty="0"/>
          </a:p>
        </p:txBody>
      </p:sp>
      <p:sp>
        <p:nvSpPr>
          <p:cNvPr id="8" name="Shape 6"/>
          <p:cNvSpPr/>
          <p:nvPr/>
        </p:nvSpPr>
        <p:spPr>
          <a:xfrm>
            <a:off x="4480560" y="1508760"/>
            <a:ext cx="292608" cy="182880"/>
          </a:xfrm>
          <a:prstGeom prst="roundRect">
            <a:avLst>
              <a:gd name="adj" fmla="val 20000"/>
            </a:avLst>
          </a:prstGeom>
          <a:solidFill>
            <a:srgbClr val="FFFFFF"/>
          </a:solidFill>
          <a:ln w="19050">
            <a:solidFill>
              <a:srgbClr val="2563EB"/>
            </a:solidFill>
            <a:prstDash val="solid"/>
          </a:ln>
        </p:spPr>
      </p:sp>
      <p:sp>
        <p:nvSpPr>
          <p:cNvPr id="9" name="Text 7"/>
          <p:cNvSpPr txBox="1"/>
          <p:nvPr/>
        </p:nvSpPr>
        <p:spPr>
          <a:xfrm>
            <a:off x="4864608" y="1481328"/>
            <a:ext cx="1737360" cy="237744"/>
          </a:xfrm>
          <a:prstGeom prst="rect">
            <a:avLst/>
          </a:prstGeom>
          <a:noFill/>
          <a:ln/>
        </p:spPr>
        <p:txBody>
          <a:bodyPr wrap="square" lIns="0" tIns="0" rIns="0" bIns="0" rtlCol="0" anchor="ctr"/>
          <a:lstStyle/>
          <a:p>
            <a:pPr algn="l" indent="0" marL="0">
              <a:buNone/>
            </a:pPr>
            <a:r>
              <a:rPr lang="en-US" sz="1200" dirty="0">
                <a:solidFill>
                  <a:srgbClr val="4A5578"/>
                </a:solidFill>
              </a:rPr>
              <a:t>Data / evidence</a:t>
            </a:r>
            <a:endParaRPr lang="en-US" sz="1200" dirty="0"/>
          </a:p>
        </p:txBody>
      </p:sp>
      <p:sp>
        <p:nvSpPr>
          <p:cNvPr id="10" name="Shape 8"/>
          <p:cNvSpPr/>
          <p:nvPr/>
        </p:nvSpPr>
        <p:spPr>
          <a:xfrm>
            <a:off x="6583680" y="1508760"/>
            <a:ext cx="292608" cy="182880"/>
          </a:xfrm>
          <a:prstGeom prst="roundRect">
            <a:avLst>
              <a:gd name="adj" fmla="val 20000"/>
            </a:avLst>
          </a:prstGeom>
          <a:solidFill>
            <a:srgbClr val="FEF3C7"/>
          </a:solidFill>
          <a:ln w="19050">
            <a:solidFill>
              <a:srgbClr val="D97706"/>
            </a:solidFill>
            <a:prstDash val="solid"/>
          </a:ln>
        </p:spPr>
      </p:sp>
      <p:sp>
        <p:nvSpPr>
          <p:cNvPr id="11" name="Text 9"/>
          <p:cNvSpPr txBox="1"/>
          <p:nvPr/>
        </p:nvSpPr>
        <p:spPr>
          <a:xfrm>
            <a:off x="6967728" y="1481328"/>
            <a:ext cx="1737360" cy="237744"/>
          </a:xfrm>
          <a:prstGeom prst="rect">
            <a:avLst/>
          </a:prstGeom>
          <a:noFill/>
          <a:ln/>
        </p:spPr>
        <p:txBody>
          <a:bodyPr wrap="square" lIns="0" tIns="0" rIns="0" bIns="0" rtlCol="0" anchor="ctr"/>
          <a:lstStyle/>
          <a:p>
            <a:pPr algn="l" indent="0" marL="0">
              <a:buNone/>
            </a:pPr>
            <a:r>
              <a:rPr lang="en-US" sz="1200" dirty="0">
                <a:solidFill>
                  <a:srgbClr val="4A5578"/>
                </a:solidFill>
              </a:rPr>
              <a:t>Human gate</a:t>
            </a:r>
            <a:endParaRPr lang="en-US" sz="1200" dirty="0"/>
          </a:p>
        </p:txBody>
      </p:sp>
      <p:sp>
        <p:nvSpPr>
          <p:cNvPr id="12" name="Text 10"/>
          <p:cNvSpPr txBox="1"/>
          <p:nvPr/>
        </p:nvSpPr>
        <p:spPr>
          <a:xfrm>
            <a:off x="457200" y="1828800"/>
            <a:ext cx="1371600" cy="274320"/>
          </a:xfrm>
          <a:prstGeom prst="rect">
            <a:avLst/>
          </a:prstGeom>
          <a:noFill/>
          <a:ln/>
        </p:spPr>
        <p:txBody>
          <a:bodyPr wrap="square" lIns="0" tIns="0" rIns="0" bIns="0" rtlCol="0" anchor="ctr"/>
          <a:lstStyle/>
          <a:p>
            <a:pPr algn="l" indent="0" marL="0">
              <a:buNone/>
            </a:pPr>
            <a:r>
              <a:rPr lang="en-US" sz="1300" b="1" dirty="0">
                <a:solidFill>
                  <a:srgbClr val="4A5578"/>
                </a:solidFill>
              </a:rPr>
              <a:t>Sources</a:t>
            </a:r>
            <a:endParaRPr lang="en-US" sz="1300" dirty="0"/>
          </a:p>
        </p:txBody>
      </p:sp>
      <p:sp>
        <p:nvSpPr>
          <p:cNvPr id="13" name="Text 11"/>
          <p:cNvSpPr txBox="1"/>
          <p:nvPr/>
        </p:nvSpPr>
        <p:spPr>
          <a:xfrm>
            <a:off x="2103120" y="1828800"/>
            <a:ext cx="1325880" cy="274320"/>
          </a:xfrm>
          <a:prstGeom prst="rect">
            <a:avLst/>
          </a:prstGeom>
          <a:noFill/>
          <a:ln/>
        </p:spPr>
        <p:txBody>
          <a:bodyPr wrap="square" lIns="0" tIns="0" rIns="0" bIns="0" rtlCol="0" anchor="ctr"/>
          <a:lstStyle/>
          <a:p>
            <a:pPr algn="l" indent="0" marL="0">
              <a:buNone/>
            </a:pPr>
            <a:r>
              <a:rPr lang="en-US" sz="1300" b="1" dirty="0">
                <a:solidFill>
                  <a:srgbClr val="4A5578"/>
                </a:solidFill>
              </a:rPr>
              <a:t>Ingest</a:t>
            </a:r>
            <a:endParaRPr lang="en-US" sz="1300" dirty="0"/>
          </a:p>
        </p:txBody>
      </p:sp>
      <p:sp>
        <p:nvSpPr>
          <p:cNvPr id="14" name="Text 12"/>
          <p:cNvSpPr txBox="1"/>
          <p:nvPr/>
        </p:nvSpPr>
        <p:spPr>
          <a:xfrm>
            <a:off x="3703320" y="1828800"/>
            <a:ext cx="1463040" cy="274320"/>
          </a:xfrm>
          <a:prstGeom prst="rect">
            <a:avLst/>
          </a:prstGeom>
          <a:noFill/>
          <a:ln/>
        </p:spPr>
        <p:txBody>
          <a:bodyPr wrap="square" lIns="0" tIns="0" rIns="0" bIns="0" rtlCol="0" anchor="ctr"/>
          <a:lstStyle/>
          <a:p>
            <a:pPr algn="l" indent="0" marL="0">
              <a:buNone/>
            </a:pPr>
            <a:r>
              <a:rPr lang="en-US" sz="1300" b="1" dirty="0">
                <a:solidFill>
                  <a:srgbClr val="4A5578"/>
                </a:solidFill>
              </a:rPr>
              <a:t>Analyze</a:t>
            </a:r>
            <a:endParaRPr lang="en-US" sz="1300" dirty="0"/>
          </a:p>
        </p:txBody>
      </p:sp>
      <p:sp>
        <p:nvSpPr>
          <p:cNvPr id="15" name="Text 13"/>
          <p:cNvSpPr txBox="1"/>
          <p:nvPr/>
        </p:nvSpPr>
        <p:spPr>
          <a:xfrm>
            <a:off x="5440680" y="1828800"/>
            <a:ext cx="2834640" cy="274320"/>
          </a:xfrm>
          <a:prstGeom prst="rect">
            <a:avLst/>
          </a:prstGeom>
          <a:noFill/>
          <a:ln/>
        </p:spPr>
        <p:txBody>
          <a:bodyPr wrap="square" lIns="0" tIns="0" rIns="0" bIns="0" rtlCol="0" anchor="ctr"/>
          <a:lstStyle/>
          <a:p>
            <a:pPr algn="l" indent="0" marL="0">
              <a:buNone/>
            </a:pPr>
            <a:r>
              <a:rPr lang="en-US" sz="1300" b="1" dirty="0">
                <a:solidFill>
                  <a:srgbClr val="4A5578"/>
                </a:solidFill>
              </a:rPr>
              <a:t>Reason</a:t>
            </a:r>
            <a:endParaRPr lang="en-US" sz="1300" dirty="0"/>
          </a:p>
        </p:txBody>
      </p:sp>
      <p:sp>
        <p:nvSpPr>
          <p:cNvPr id="16" name="Text 14"/>
          <p:cNvSpPr txBox="1"/>
          <p:nvPr/>
        </p:nvSpPr>
        <p:spPr>
          <a:xfrm>
            <a:off x="8549640" y="1828800"/>
            <a:ext cx="1234440" cy="274320"/>
          </a:xfrm>
          <a:prstGeom prst="rect">
            <a:avLst/>
          </a:prstGeom>
          <a:noFill/>
          <a:ln/>
        </p:spPr>
        <p:txBody>
          <a:bodyPr wrap="square" lIns="0" tIns="0" rIns="0" bIns="0" rtlCol="0" anchor="ctr"/>
          <a:lstStyle/>
          <a:p>
            <a:pPr algn="l" indent="0" marL="0">
              <a:buNone/>
            </a:pPr>
            <a:r>
              <a:rPr lang="en-US" sz="1300" b="1" dirty="0">
                <a:solidFill>
                  <a:srgbClr val="4A5578"/>
                </a:solidFill>
              </a:rPr>
              <a:t>Decide</a:t>
            </a:r>
            <a:endParaRPr lang="en-US" sz="1300" dirty="0"/>
          </a:p>
        </p:txBody>
      </p:sp>
      <p:sp>
        <p:nvSpPr>
          <p:cNvPr id="17" name="Text 15"/>
          <p:cNvSpPr txBox="1"/>
          <p:nvPr/>
        </p:nvSpPr>
        <p:spPr>
          <a:xfrm>
            <a:off x="10058400" y="1828800"/>
            <a:ext cx="1673352" cy="274320"/>
          </a:xfrm>
          <a:prstGeom prst="rect">
            <a:avLst/>
          </a:prstGeom>
          <a:noFill/>
          <a:ln/>
        </p:spPr>
        <p:txBody>
          <a:bodyPr wrap="square" lIns="0" tIns="0" rIns="0" bIns="0" rtlCol="0" anchor="ctr"/>
          <a:lstStyle/>
          <a:p>
            <a:pPr algn="l" indent="0" marL="0">
              <a:buNone/>
            </a:pPr>
            <a:r>
              <a:rPr lang="en-US" sz="1300" b="1" dirty="0">
                <a:solidFill>
                  <a:srgbClr val="4A5578"/>
                </a:solidFill>
              </a:rPr>
              <a:t>Act and verify</a:t>
            </a:r>
            <a:endParaRPr lang="en-US" sz="1300" dirty="0"/>
          </a:p>
        </p:txBody>
      </p:sp>
      <p:sp>
        <p:nvSpPr>
          <p:cNvPr id="18" name="Text 16"/>
          <p:cNvSpPr txBox="1"/>
          <p:nvPr/>
        </p:nvSpPr>
        <p:spPr>
          <a:xfrm>
            <a:off x="457200" y="2743200"/>
            <a:ext cx="1371600" cy="2194560"/>
          </a:xfrm>
          <a:prstGeom prst="roundRect">
            <a:avLst>
              <a:gd name="adj" fmla="val 5333"/>
            </a:avLst>
          </a:prstGeom>
          <a:solidFill>
            <a:srgbClr val="FFFFFF"/>
          </a:solidFill>
          <a:ln w="19050">
            <a:solidFill>
              <a:srgbClr val="2563EB"/>
            </a:solidFill>
          </a:ln>
        </p:spPr>
        <p:txBody>
          <a:bodyPr wrap="square" lIns="88900" tIns="88900" rIns="88900" bIns="88900" rtlCol="0" anchor="ctr"/>
          <a:lstStyle/>
          <a:p>
            <a:pPr algn="l" indent="0" marL="0">
              <a:buNone/>
            </a:pPr>
            <a:r>
              <a:rPr lang="en-US" sz="1200" i="1" dirty="0">
                <a:solidFill>
                  <a:srgbClr val="4A5578"/>
                </a:solidFill>
              </a:rPr>
              <a:t>Simulated scenarios</a:t>
            </a:r>
            <a:endParaRPr lang="en-US" sz="1200" dirty="0"/>
          </a:p>
          <a:p>
            <a:pPr algn="l" indent="0" marL="0">
              <a:buNone/>
            </a:pPr>
            <a:r>
              <a:rPr lang="en-US" sz="1200" dirty="0">
                <a:solidFill>
                  <a:srgbClr val="0B1026"/>
                </a:solidFill>
              </a:rPr>
              <a:t>Logs, metrics, traces</a:t>
            </a:r>
            <a:endParaRPr lang="en-US" sz="1200" dirty="0"/>
          </a:p>
          <a:p>
            <a:pPr algn="l" indent="0" marL="0">
              <a:buNone/>
            </a:pPr>
            <a:r>
              <a:rPr lang="en-US" sz="1200" dirty="0">
                <a:solidFill>
                  <a:srgbClr val="0B1026"/>
                </a:solidFill>
              </a:rPr>
              <a:t>Alerts</a:t>
            </a:r>
            <a:endParaRPr lang="en-US" sz="1200" dirty="0"/>
          </a:p>
          <a:p>
            <a:pPr algn="l" indent="0" marL="0">
              <a:buNone/>
            </a:pPr>
            <a:r>
              <a:rPr lang="en-US" sz="1200" dirty="0">
                <a:solidFill>
                  <a:srgbClr val="0B1026"/>
                </a:solidFill>
              </a:rPr>
              <a:t>Deployments, config</a:t>
            </a:r>
            <a:endParaRPr lang="en-US" sz="1200" dirty="0"/>
          </a:p>
          <a:p>
            <a:pPr algn="l" indent="0" marL="0">
              <a:buNone/>
            </a:pPr>
            <a:r>
              <a:rPr lang="en-US" sz="1200" dirty="0">
                <a:solidFill>
                  <a:srgbClr val="0B1026"/>
                </a:solidFill>
              </a:rPr>
              <a:t>Dependencies</a:t>
            </a:r>
            <a:endParaRPr lang="en-US" sz="1200" dirty="0"/>
          </a:p>
          <a:p>
            <a:pPr algn="l" indent="0" marL="0">
              <a:buNone/>
            </a:pPr>
            <a:r>
              <a:rPr lang="en-US" sz="1200" dirty="0">
                <a:solidFill>
                  <a:srgbClr val="0B1026"/>
                </a:solidFill>
              </a:rPr>
              <a:t>Incidents, tickets</a:t>
            </a:r>
            <a:endParaRPr lang="en-US" sz="1200" dirty="0"/>
          </a:p>
        </p:txBody>
      </p:sp>
      <p:sp>
        <p:nvSpPr>
          <p:cNvPr id="19" name="Text 17"/>
          <p:cNvSpPr txBox="1"/>
          <p:nvPr/>
        </p:nvSpPr>
        <p:spPr>
          <a:xfrm>
            <a:off x="2103120" y="3383280"/>
            <a:ext cx="1325880" cy="1005840"/>
          </a:xfrm>
          <a:prstGeom prst="roundRect">
            <a:avLst>
              <a:gd name="adj" fmla="val 7273"/>
            </a:avLst>
          </a:prstGeom>
          <a:solidFill>
            <a:srgbClr val="FFFFFF"/>
          </a:solidFill>
          <a:ln w="19050">
            <a:solidFill>
              <a:srgbClr val="0891B2"/>
            </a:solidFill>
          </a:ln>
        </p:spPr>
        <p:txBody>
          <a:bodyPr wrap="square" lIns="76200" tIns="76200" rIns="76200" bIns="76200" rtlCol="0" anchor="ctr"/>
          <a:lstStyle/>
          <a:p>
            <a:pPr algn="ctr" indent="0" marL="0">
              <a:buNone/>
            </a:pPr>
            <a:r>
              <a:rPr lang="en-US" sz="1200" b="1" dirty="0">
                <a:solidFill>
                  <a:srgbClr val="0B1026"/>
                </a:solidFill>
              </a:rPr>
              <a:t>Loader + Evidence Store</a:t>
            </a:r>
            <a:endParaRPr lang="en-US" sz="1200" dirty="0"/>
          </a:p>
          <a:p>
            <a:pPr algn="ctr" indent="0" marL="0">
              <a:buNone/>
            </a:pPr>
            <a:r>
              <a:rPr lang="en-US" sz="1200" dirty="0">
                <a:solidFill>
                  <a:srgbClr val="0B1026"/>
                </a:solidFill>
              </a:rPr>
              <a:t>Every item gets an ID</a:t>
            </a:r>
            <a:endParaRPr lang="en-US" sz="1200" dirty="0"/>
          </a:p>
        </p:txBody>
      </p:sp>
      <p:sp>
        <p:nvSpPr>
          <p:cNvPr id="20" name="Shape 18"/>
          <p:cNvSpPr/>
          <p:nvPr/>
        </p:nvSpPr>
        <p:spPr>
          <a:xfrm>
            <a:off x="1828800" y="3886200"/>
            <a:ext cx="274320" cy="0"/>
          </a:xfrm>
          <a:prstGeom prst="line">
            <a:avLst/>
          </a:prstGeom>
          <a:noFill/>
          <a:ln w="15875">
            <a:solidFill>
              <a:srgbClr val="4A5578"/>
            </a:solidFill>
            <a:prstDash val="solid"/>
            <a:tailEnd type="triangle"/>
          </a:ln>
        </p:spPr>
      </p:sp>
      <p:sp>
        <p:nvSpPr>
          <p:cNvPr id="21" name="Text 19"/>
          <p:cNvSpPr txBox="1"/>
          <p:nvPr/>
        </p:nvSpPr>
        <p:spPr>
          <a:xfrm>
            <a:off x="3703320" y="3017520"/>
            <a:ext cx="1463040" cy="777240"/>
          </a:xfrm>
          <a:prstGeom prst="roundRect">
            <a:avLst>
              <a:gd name="adj" fmla="val 9412"/>
            </a:avLst>
          </a:prstGeom>
          <a:solidFill>
            <a:srgbClr val="FFFFFF"/>
          </a:solidFill>
          <a:ln w="19050">
            <a:solidFill>
              <a:srgbClr val="0891B2"/>
            </a:solidFill>
          </a:ln>
        </p:spPr>
        <p:txBody>
          <a:bodyPr wrap="square" lIns="76200" tIns="76200" rIns="76200" bIns="76200" rtlCol="0" anchor="ctr"/>
          <a:lstStyle/>
          <a:p>
            <a:pPr algn="ctr" indent="0" marL="0">
              <a:buNone/>
            </a:pPr>
            <a:r>
              <a:rPr lang="en-US" sz="1200" b="1" dirty="0">
                <a:solidFill>
                  <a:srgbClr val="0B1026"/>
                </a:solidFill>
              </a:rPr>
              <a:t>Timeline builder</a:t>
            </a:r>
            <a:endParaRPr lang="en-US" sz="1200" dirty="0"/>
          </a:p>
        </p:txBody>
      </p:sp>
      <p:sp>
        <p:nvSpPr>
          <p:cNvPr id="22" name="Text 20"/>
          <p:cNvSpPr txBox="1"/>
          <p:nvPr/>
        </p:nvSpPr>
        <p:spPr>
          <a:xfrm>
            <a:off x="3703320" y="4023360"/>
            <a:ext cx="1463040" cy="868680"/>
          </a:xfrm>
          <a:prstGeom prst="roundRect">
            <a:avLst>
              <a:gd name="adj" fmla="val 8421"/>
            </a:avLst>
          </a:prstGeom>
          <a:solidFill>
            <a:srgbClr val="FFFFFF"/>
          </a:solidFill>
          <a:ln w="19050">
            <a:solidFill>
              <a:srgbClr val="0891B2"/>
            </a:solidFill>
          </a:ln>
        </p:spPr>
        <p:txBody>
          <a:bodyPr wrap="square" lIns="76200" tIns="76200" rIns="76200" bIns="76200" rtlCol="0" anchor="ctr"/>
          <a:lstStyle/>
          <a:p>
            <a:pPr algn="ctr" indent="0" marL="0">
              <a:buNone/>
            </a:pPr>
            <a:r>
              <a:rPr lang="en-US" sz="1200" b="1" dirty="0">
                <a:solidFill>
                  <a:srgbClr val="0B1026"/>
                </a:solidFill>
              </a:rPr>
              <a:t>Anomaly detector</a:t>
            </a:r>
            <a:endParaRPr lang="en-US" sz="1200" dirty="0"/>
          </a:p>
          <a:p>
            <a:pPr algn="ctr" indent="0" marL="0">
              <a:buNone/>
            </a:pPr>
            <a:r>
              <a:rPr lang="en-US" sz="1200" dirty="0">
                <a:solidFill>
                  <a:srgbClr val="0B1026"/>
                </a:solidFill>
              </a:rPr>
              <a:t>statistical baselines</a:t>
            </a:r>
            <a:endParaRPr lang="en-US" sz="1200" dirty="0"/>
          </a:p>
        </p:txBody>
      </p:sp>
      <p:sp>
        <p:nvSpPr>
          <p:cNvPr id="23" name="Shape 21"/>
          <p:cNvSpPr/>
          <p:nvPr/>
        </p:nvSpPr>
        <p:spPr>
          <a:xfrm flipV="1">
            <a:off x="3429000" y="3401568"/>
            <a:ext cx="274320" cy="484632"/>
          </a:xfrm>
          <a:prstGeom prst="line">
            <a:avLst/>
          </a:prstGeom>
          <a:noFill/>
          <a:ln w="15875">
            <a:solidFill>
              <a:srgbClr val="4A5578"/>
            </a:solidFill>
            <a:prstDash val="solid"/>
            <a:tailEnd type="triangle"/>
          </a:ln>
        </p:spPr>
      </p:sp>
      <p:sp>
        <p:nvSpPr>
          <p:cNvPr id="24" name="Shape 22"/>
          <p:cNvSpPr/>
          <p:nvPr/>
        </p:nvSpPr>
        <p:spPr>
          <a:xfrm>
            <a:off x="3429000" y="3886200"/>
            <a:ext cx="274320" cy="566928"/>
          </a:xfrm>
          <a:prstGeom prst="line">
            <a:avLst/>
          </a:prstGeom>
          <a:noFill/>
          <a:ln w="15875">
            <a:solidFill>
              <a:srgbClr val="4A5578"/>
            </a:solidFill>
            <a:prstDash val="solid"/>
            <a:tailEnd type="triangle"/>
          </a:ln>
        </p:spPr>
      </p:sp>
      <p:sp>
        <p:nvSpPr>
          <p:cNvPr id="25" name="Text 23"/>
          <p:cNvSpPr txBox="1"/>
          <p:nvPr/>
        </p:nvSpPr>
        <p:spPr>
          <a:xfrm>
            <a:off x="5440680" y="2194560"/>
            <a:ext cx="1371600" cy="548640"/>
          </a:xfrm>
          <a:prstGeom prst="roundRect">
            <a:avLst>
              <a:gd name="adj" fmla="val 13333"/>
            </a:avLst>
          </a:prstGeom>
          <a:solidFill>
            <a:srgbClr val="FFFFFF"/>
          </a:solidFill>
          <a:ln w="19050">
            <a:solidFill>
              <a:srgbClr val="0891B2"/>
            </a:solidFill>
          </a:ln>
        </p:spPr>
        <p:txBody>
          <a:bodyPr wrap="square" lIns="50800" tIns="50800" rIns="50800" bIns="50800" rtlCol="0" anchor="ctr"/>
          <a:lstStyle/>
          <a:p>
            <a:pPr algn="ctr" indent="0" marL="0">
              <a:buNone/>
            </a:pPr>
            <a:r>
              <a:rPr lang="en-US" sz="1200" b="1" dirty="0">
                <a:solidFill>
                  <a:srgbClr val="0B1026"/>
                </a:solidFill>
              </a:rPr>
              <a:t>Tools</a:t>
            </a:r>
            <a:endParaRPr lang="en-US" sz="1200" dirty="0"/>
          </a:p>
          <a:p>
            <a:pPr algn="ctr" indent="0" marL="0">
              <a:buNone/>
            </a:pPr>
            <a:r>
              <a:rPr lang="en-US" sz="1200" dirty="0">
                <a:solidFill>
                  <a:srgbClr val="0B1026"/>
                </a:solidFill>
              </a:rPr>
              <a:t>query sources</a:t>
            </a:r>
            <a:endParaRPr lang="en-US" sz="1200" dirty="0"/>
          </a:p>
        </p:txBody>
      </p:sp>
      <p:sp>
        <p:nvSpPr>
          <p:cNvPr id="26" name="Text 24"/>
          <p:cNvSpPr txBox="1"/>
          <p:nvPr/>
        </p:nvSpPr>
        <p:spPr>
          <a:xfrm>
            <a:off x="6903720" y="2194560"/>
            <a:ext cx="1371600" cy="548640"/>
          </a:xfrm>
          <a:prstGeom prst="roundRect">
            <a:avLst>
              <a:gd name="adj" fmla="val 13333"/>
            </a:avLst>
          </a:prstGeom>
          <a:solidFill>
            <a:srgbClr val="FFFFFF"/>
          </a:solidFill>
          <a:ln w="19050">
            <a:solidFill>
              <a:srgbClr val="0891B2"/>
            </a:solidFill>
          </a:ln>
        </p:spPr>
        <p:txBody>
          <a:bodyPr wrap="square" lIns="50800" tIns="50800" rIns="50800" bIns="50800" rtlCol="0" anchor="ctr"/>
          <a:lstStyle/>
          <a:p>
            <a:pPr algn="ctr" indent="0" marL="0">
              <a:buNone/>
            </a:pPr>
            <a:r>
              <a:rPr lang="en-US" sz="1200" b="1" dirty="0">
                <a:solidFill>
                  <a:srgbClr val="0B1026"/>
                </a:solidFill>
              </a:rPr>
              <a:t>Playbooks</a:t>
            </a:r>
            <a:endParaRPr lang="en-US" sz="1200" dirty="0"/>
          </a:p>
          <a:p>
            <a:pPr algn="ctr" indent="0" marL="0">
              <a:buNone/>
            </a:pPr>
            <a:r>
              <a:rPr lang="en-US" sz="1200" dirty="0">
                <a:solidFill>
                  <a:srgbClr val="0B1026"/>
                </a:solidFill>
              </a:rPr>
              <a:t>per incident</a:t>
            </a:r>
            <a:endParaRPr lang="en-US" sz="1200" dirty="0"/>
          </a:p>
        </p:txBody>
      </p:sp>
      <p:sp>
        <p:nvSpPr>
          <p:cNvPr id="27" name="Shape 25"/>
          <p:cNvSpPr/>
          <p:nvPr/>
        </p:nvSpPr>
        <p:spPr>
          <a:xfrm>
            <a:off x="6126480" y="2743200"/>
            <a:ext cx="0" cy="182880"/>
          </a:xfrm>
          <a:prstGeom prst="line">
            <a:avLst/>
          </a:prstGeom>
          <a:noFill/>
          <a:ln w="15875">
            <a:solidFill>
              <a:srgbClr val="4A5578"/>
            </a:solidFill>
            <a:prstDash val="solid"/>
            <a:tailEnd type="triangle"/>
          </a:ln>
        </p:spPr>
      </p:sp>
      <p:sp>
        <p:nvSpPr>
          <p:cNvPr id="28" name="Shape 26"/>
          <p:cNvSpPr/>
          <p:nvPr/>
        </p:nvSpPr>
        <p:spPr>
          <a:xfrm>
            <a:off x="7589520" y="2743200"/>
            <a:ext cx="0" cy="182880"/>
          </a:xfrm>
          <a:prstGeom prst="line">
            <a:avLst/>
          </a:prstGeom>
          <a:noFill/>
          <a:ln w="15875">
            <a:solidFill>
              <a:srgbClr val="4A5578"/>
            </a:solidFill>
            <a:prstDash val="solid"/>
            <a:tailEnd type="triangle"/>
          </a:ln>
        </p:spPr>
      </p:sp>
      <p:sp>
        <p:nvSpPr>
          <p:cNvPr id="29" name="Shape 27"/>
          <p:cNvSpPr/>
          <p:nvPr/>
        </p:nvSpPr>
        <p:spPr>
          <a:xfrm>
            <a:off x="5440680" y="2926080"/>
            <a:ext cx="2834640" cy="2011680"/>
          </a:xfrm>
          <a:prstGeom prst="roundRect">
            <a:avLst>
              <a:gd name="adj" fmla="val 3636"/>
            </a:avLst>
          </a:prstGeom>
          <a:solidFill>
            <a:srgbClr val="F7F9FC"/>
          </a:solidFill>
          <a:ln w="12700">
            <a:solidFill>
              <a:srgbClr val="D6DCF0"/>
            </a:solidFill>
            <a:prstDash val="solid"/>
          </a:ln>
        </p:spPr>
      </p:sp>
      <p:sp>
        <p:nvSpPr>
          <p:cNvPr id="30" name="GRAD"/>
          <p:cNvSpPr txBox="1"/>
          <p:nvPr/>
        </p:nvSpPr>
        <p:spPr>
          <a:xfrm>
            <a:off x="5532120" y="3017520"/>
            <a:ext cx="2651760" cy="420624"/>
          </a:xfrm>
          <a:prstGeom prst="roundRect">
            <a:avLst>
              <a:gd name="adj" fmla="val 17391"/>
            </a:avLst>
          </a:prstGeom>
          <a:gradFill rotWithShape="1">
            <a:gsLst>
              <a:gs pos="0">
                <a:srgbClr val="2563EB"/>
              </a:gs>
              <a:gs pos="100000">
                <a:srgbClr val="7C3AED"/>
              </a:gs>
            </a:gsLst>
            <a:lin ang="0" scaled="0"/>
          </a:gradFill>
          <a:ln w="12700">
            <a:solidFill>
              <a:srgbClr val="2563EB"/>
            </a:solidFill>
          </a:ln>
        </p:spPr>
        <p:txBody>
          <a:bodyPr wrap="square" lIns="88900" tIns="88900" rIns="88900" bIns="88900" rtlCol="0" anchor="ctr"/>
          <a:lstStyle/>
          <a:p>
            <a:pPr algn="l" indent="0" marL="0">
              <a:buNone/>
            </a:pPr>
            <a:r>
              <a:rPr lang="en-US" sz="1200" b="1" dirty="0">
                <a:solidFill>
                  <a:srgbClr val="FFFFFF"/>
                </a:solidFill>
              </a:rPr>
              <a:t>Orchestrator</a:t>
            </a:r>
            <a:endParaRPr lang="en-US" sz="1200" dirty="0"/>
          </a:p>
          <a:p>
            <a:pPr algn="l" indent="0" marL="0">
              <a:buNone/>
            </a:pPr>
            <a:r>
              <a:rPr lang="en-US" sz="1200" dirty="0">
                <a:solidFill>
                  <a:srgbClr val="FFFFFF"/>
                </a:solidFill>
              </a:rPr>
              <a:t>plans, calls tools, replans</a:t>
            </a:r>
            <a:endParaRPr lang="en-US" sz="1200" dirty="0"/>
          </a:p>
        </p:txBody>
      </p:sp>
      <p:sp>
        <p:nvSpPr>
          <p:cNvPr id="31" name="GRAD"/>
          <p:cNvSpPr txBox="1"/>
          <p:nvPr/>
        </p:nvSpPr>
        <p:spPr>
          <a:xfrm>
            <a:off x="5532120" y="3493008"/>
            <a:ext cx="2651760" cy="420624"/>
          </a:xfrm>
          <a:prstGeom prst="roundRect">
            <a:avLst>
              <a:gd name="adj" fmla="val 17391"/>
            </a:avLst>
          </a:prstGeom>
          <a:gradFill rotWithShape="1">
            <a:gsLst>
              <a:gs pos="0">
                <a:srgbClr val="2563EB"/>
              </a:gs>
              <a:gs pos="100000">
                <a:srgbClr val="7C3AED"/>
              </a:gs>
            </a:gsLst>
            <a:lin ang="0" scaled="0"/>
          </a:gradFill>
          <a:ln w="12700">
            <a:solidFill>
              <a:srgbClr val="2563EB"/>
            </a:solidFill>
          </a:ln>
        </p:spPr>
        <p:txBody>
          <a:bodyPr wrap="square" lIns="88900" tIns="88900" rIns="88900" bIns="88900" rtlCol="0" anchor="ctr"/>
          <a:lstStyle/>
          <a:p>
            <a:pPr algn="l" indent="0" marL="0">
              <a:buNone/>
            </a:pPr>
            <a:r>
              <a:rPr lang="en-US" sz="1200" b="1" dirty="0">
                <a:solidFill>
                  <a:srgbClr val="FFFFFF"/>
                </a:solidFill>
              </a:rPr>
              <a:t>Hypothesis agent</a:t>
            </a:r>
            <a:endParaRPr lang="en-US" sz="1200" dirty="0"/>
          </a:p>
          <a:p>
            <a:pPr algn="l" indent="0" marL="0">
              <a:buNone/>
            </a:pPr>
            <a:r>
              <a:rPr lang="en-US" sz="1200" dirty="0">
                <a:solidFill>
                  <a:srgbClr val="FFFFFF"/>
                </a:solidFill>
              </a:rPr>
              <a:t>3-5 competing causes</a:t>
            </a:r>
            <a:endParaRPr lang="en-US" sz="1200" dirty="0"/>
          </a:p>
        </p:txBody>
      </p:sp>
      <p:sp>
        <p:nvSpPr>
          <p:cNvPr id="32" name="GRAD"/>
          <p:cNvSpPr txBox="1"/>
          <p:nvPr/>
        </p:nvSpPr>
        <p:spPr>
          <a:xfrm>
            <a:off x="5532120" y="3968496"/>
            <a:ext cx="2651760" cy="420624"/>
          </a:xfrm>
          <a:prstGeom prst="roundRect">
            <a:avLst>
              <a:gd name="adj" fmla="val 17391"/>
            </a:avLst>
          </a:prstGeom>
          <a:gradFill rotWithShape="1">
            <a:gsLst>
              <a:gs pos="0">
                <a:srgbClr val="2563EB"/>
              </a:gs>
              <a:gs pos="100000">
                <a:srgbClr val="7C3AED"/>
              </a:gs>
            </a:gsLst>
            <a:lin ang="0" scaled="0"/>
          </a:gradFill>
          <a:ln w="12700">
            <a:solidFill>
              <a:srgbClr val="2563EB"/>
            </a:solidFill>
          </a:ln>
        </p:spPr>
        <p:txBody>
          <a:bodyPr wrap="square" lIns="88900" tIns="88900" rIns="88900" bIns="88900" rtlCol="0" anchor="ctr"/>
          <a:lstStyle/>
          <a:p>
            <a:pPr algn="l" indent="0" marL="0">
              <a:buNone/>
            </a:pPr>
            <a:r>
              <a:rPr lang="en-US" sz="1200" b="1" dirty="0">
                <a:solidFill>
                  <a:srgbClr val="FFFFFF"/>
                </a:solidFill>
              </a:rPr>
              <a:t>Evidence evaluator</a:t>
            </a:r>
            <a:endParaRPr lang="en-US" sz="1200" dirty="0"/>
          </a:p>
          <a:p>
            <a:pPr algn="l" indent="0" marL="0">
              <a:buNone/>
            </a:pPr>
            <a:r>
              <a:rPr lang="en-US" sz="1200" dirty="0">
                <a:solidFill>
                  <a:srgbClr val="FFFFFF"/>
                </a:solidFill>
              </a:rPr>
              <a:t>for / against / neutral</a:t>
            </a:r>
            <a:endParaRPr lang="en-US" sz="1200" dirty="0"/>
          </a:p>
        </p:txBody>
      </p:sp>
      <p:sp>
        <p:nvSpPr>
          <p:cNvPr id="33" name="GRAD"/>
          <p:cNvSpPr txBox="1"/>
          <p:nvPr/>
        </p:nvSpPr>
        <p:spPr>
          <a:xfrm>
            <a:off x="5532120" y="4443984"/>
            <a:ext cx="2651760" cy="420624"/>
          </a:xfrm>
          <a:prstGeom prst="roundRect">
            <a:avLst>
              <a:gd name="adj" fmla="val 17391"/>
            </a:avLst>
          </a:prstGeom>
          <a:gradFill rotWithShape="1">
            <a:gsLst>
              <a:gs pos="0">
                <a:srgbClr val="2563EB"/>
              </a:gs>
              <a:gs pos="100000">
                <a:srgbClr val="7C3AED"/>
              </a:gs>
            </a:gsLst>
            <a:lin ang="0" scaled="0"/>
          </a:gradFill>
          <a:ln w="12700">
            <a:solidFill>
              <a:srgbClr val="2563EB"/>
            </a:solidFill>
          </a:ln>
        </p:spPr>
        <p:txBody>
          <a:bodyPr wrap="square" lIns="88900" tIns="88900" rIns="88900" bIns="88900" rtlCol="0" anchor="ctr"/>
          <a:lstStyle/>
          <a:p>
            <a:pPr algn="l" indent="0" marL="0">
              <a:buNone/>
            </a:pPr>
            <a:r>
              <a:rPr lang="en-US" sz="1200" b="1" dirty="0">
                <a:solidFill>
                  <a:srgbClr val="FFFFFF"/>
                </a:solidFill>
              </a:rPr>
              <a:t>Remediation agent</a:t>
            </a:r>
            <a:endParaRPr lang="en-US" sz="1200" dirty="0"/>
          </a:p>
          <a:p>
            <a:pPr algn="l" indent="0" marL="0">
              <a:buNone/>
            </a:pPr>
            <a:r>
              <a:rPr lang="en-US" sz="1200" dirty="0">
                <a:solidFill>
                  <a:srgbClr val="FFFFFF"/>
                </a:solidFill>
              </a:rPr>
              <a:t>ranked fixes, rollback</a:t>
            </a:r>
            <a:endParaRPr lang="en-US" sz="1200" dirty="0"/>
          </a:p>
        </p:txBody>
      </p:sp>
      <p:sp>
        <p:nvSpPr>
          <p:cNvPr id="34" name="Shape 32"/>
          <p:cNvSpPr/>
          <p:nvPr/>
        </p:nvSpPr>
        <p:spPr>
          <a:xfrm>
            <a:off x="5166360" y="3401568"/>
            <a:ext cx="274320" cy="0"/>
          </a:xfrm>
          <a:prstGeom prst="line">
            <a:avLst/>
          </a:prstGeom>
          <a:noFill/>
          <a:ln w="15875">
            <a:solidFill>
              <a:srgbClr val="4A5578"/>
            </a:solidFill>
            <a:prstDash val="solid"/>
            <a:tailEnd type="triangle"/>
          </a:ln>
        </p:spPr>
      </p:sp>
      <p:sp>
        <p:nvSpPr>
          <p:cNvPr id="35" name="Shape 33"/>
          <p:cNvSpPr/>
          <p:nvPr/>
        </p:nvSpPr>
        <p:spPr>
          <a:xfrm>
            <a:off x="5166360" y="4453128"/>
            <a:ext cx="274320" cy="0"/>
          </a:xfrm>
          <a:prstGeom prst="line">
            <a:avLst/>
          </a:prstGeom>
          <a:noFill/>
          <a:ln w="15875">
            <a:solidFill>
              <a:srgbClr val="4A5578"/>
            </a:solidFill>
            <a:prstDash val="solid"/>
            <a:tailEnd type="triangle"/>
          </a:ln>
        </p:spPr>
      </p:sp>
      <p:sp>
        <p:nvSpPr>
          <p:cNvPr id="36" name="Text 34"/>
          <p:cNvSpPr txBox="1"/>
          <p:nvPr/>
        </p:nvSpPr>
        <p:spPr>
          <a:xfrm>
            <a:off x="8549640" y="2926080"/>
            <a:ext cx="1234440" cy="2011680"/>
          </a:xfrm>
          <a:prstGeom prst="roundRect">
            <a:avLst>
              <a:gd name="adj" fmla="val 5926"/>
            </a:avLst>
          </a:prstGeom>
          <a:solidFill>
            <a:srgbClr val="FFFFFF"/>
          </a:solidFill>
          <a:ln w="19050">
            <a:solidFill>
              <a:srgbClr val="0891B2"/>
            </a:solidFill>
          </a:ln>
        </p:spPr>
        <p:txBody>
          <a:bodyPr wrap="square" lIns="88900" tIns="88900" rIns="88900" bIns="88900" rtlCol="0" anchor="ctr"/>
          <a:lstStyle/>
          <a:p>
            <a:pPr algn="ctr" indent="0" marL="0">
              <a:buNone/>
            </a:pPr>
            <a:r>
              <a:rPr lang="en-US" sz="1200" b="1" dirty="0">
                <a:solidFill>
                  <a:srgbClr val="0B1026"/>
                </a:solidFill>
              </a:rPr>
              <a:t>Confidence engine</a:t>
            </a:r>
            <a:endParaRPr lang="en-US" sz="1200" dirty="0"/>
          </a:p>
          <a:p>
            <a:pPr algn="ctr" indent="0" marL="0">
              <a:buNone/>
            </a:pPr>
            <a:r>
              <a:rPr lang="en-US" sz="1200" dirty="0">
                <a:solidFill>
                  <a:srgbClr val="0B1026"/>
                </a:solidFill>
              </a:rPr>
              <a:t>Root cause only if clearly ahead</a:t>
            </a:r>
            <a:endParaRPr lang="en-US" sz="1200" dirty="0"/>
          </a:p>
        </p:txBody>
      </p:sp>
      <p:sp>
        <p:nvSpPr>
          <p:cNvPr id="37" name="Shape 35"/>
          <p:cNvSpPr/>
          <p:nvPr/>
        </p:nvSpPr>
        <p:spPr>
          <a:xfrm>
            <a:off x="8275320" y="3909060"/>
            <a:ext cx="274320" cy="0"/>
          </a:xfrm>
          <a:prstGeom prst="line">
            <a:avLst/>
          </a:prstGeom>
          <a:noFill/>
          <a:ln w="15875">
            <a:solidFill>
              <a:srgbClr val="4A5578"/>
            </a:solidFill>
            <a:prstDash val="solid"/>
            <a:tailEnd type="triangle"/>
          </a:ln>
        </p:spPr>
      </p:sp>
      <p:sp>
        <p:nvSpPr>
          <p:cNvPr id="38" name="Text 36"/>
          <p:cNvSpPr txBox="1"/>
          <p:nvPr/>
        </p:nvSpPr>
        <p:spPr>
          <a:xfrm>
            <a:off x="10058400" y="2194560"/>
            <a:ext cx="1673352" cy="438912"/>
          </a:xfrm>
          <a:prstGeom prst="roundRect">
            <a:avLst>
              <a:gd name="adj" fmla="val 16667"/>
            </a:avLst>
          </a:prstGeom>
          <a:solidFill>
            <a:srgbClr val="FEF3C7"/>
          </a:solidFill>
          <a:ln w="22225">
            <a:solidFill>
              <a:srgbClr val="D97706"/>
            </a:solidFill>
          </a:ln>
        </p:spPr>
        <p:txBody>
          <a:bodyPr wrap="square" lIns="63500" tIns="63500" rIns="63500" bIns="63500" rtlCol="0" anchor="ctr"/>
          <a:lstStyle/>
          <a:p>
            <a:pPr algn="ctr" indent="0" marL="0">
              <a:buNone/>
            </a:pPr>
            <a:r>
              <a:rPr lang="en-US" sz="1200" b="1" dirty="0">
                <a:solidFill>
                  <a:srgbClr val="0B1026"/>
                </a:solidFill>
              </a:rPr>
              <a:t>Human approval gate</a:t>
            </a:r>
            <a:endParaRPr lang="en-US" sz="1200" dirty="0"/>
          </a:p>
        </p:txBody>
      </p:sp>
      <p:sp>
        <p:nvSpPr>
          <p:cNvPr id="39" name="Shape 37"/>
          <p:cNvSpPr/>
          <p:nvPr/>
        </p:nvSpPr>
        <p:spPr>
          <a:xfrm>
            <a:off x="10895076" y="2633472"/>
            <a:ext cx="0" cy="137160"/>
          </a:xfrm>
          <a:prstGeom prst="line">
            <a:avLst/>
          </a:prstGeom>
          <a:noFill/>
          <a:ln w="15875">
            <a:solidFill>
              <a:srgbClr val="4A5578"/>
            </a:solidFill>
            <a:prstDash val="solid"/>
            <a:tailEnd type="triangle"/>
          </a:ln>
        </p:spPr>
      </p:sp>
      <p:sp>
        <p:nvSpPr>
          <p:cNvPr id="40" name="Text 38"/>
          <p:cNvSpPr txBox="1"/>
          <p:nvPr/>
        </p:nvSpPr>
        <p:spPr>
          <a:xfrm>
            <a:off x="10058400" y="2770632"/>
            <a:ext cx="1673352" cy="438912"/>
          </a:xfrm>
          <a:prstGeom prst="roundRect">
            <a:avLst>
              <a:gd name="adj" fmla="val 16667"/>
            </a:avLst>
          </a:prstGeom>
          <a:solidFill>
            <a:srgbClr val="FFFFFF"/>
          </a:solidFill>
          <a:ln w="19050">
            <a:solidFill>
              <a:srgbClr val="0891B2"/>
            </a:solidFill>
          </a:ln>
        </p:spPr>
        <p:txBody>
          <a:bodyPr wrap="square" lIns="63500" tIns="63500" rIns="63500" bIns="63500" rtlCol="0" anchor="ctr"/>
          <a:lstStyle/>
          <a:p>
            <a:pPr algn="ctr" indent="0" marL="0">
              <a:buNone/>
            </a:pPr>
            <a:r>
              <a:rPr lang="en-US" sz="1200" dirty="0">
                <a:solidFill>
                  <a:srgbClr val="0B1026"/>
                </a:solidFill>
              </a:rPr>
              <a:t>Dry-run remediation</a:t>
            </a:r>
            <a:endParaRPr lang="en-US" sz="1200" dirty="0"/>
          </a:p>
        </p:txBody>
      </p:sp>
      <p:sp>
        <p:nvSpPr>
          <p:cNvPr id="41" name="Shape 39"/>
          <p:cNvSpPr/>
          <p:nvPr/>
        </p:nvSpPr>
        <p:spPr>
          <a:xfrm>
            <a:off x="10895076" y="3209544"/>
            <a:ext cx="0" cy="137160"/>
          </a:xfrm>
          <a:prstGeom prst="line">
            <a:avLst/>
          </a:prstGeom>
          <a:noFill/>
          <a:ln w="15875">
            <a:solidFill>
              <a:srgbClr val="4A5578"/>
            </a:solidFill>
            <a:prstDash val="solid"/>
            <a:tailEnd type="triangle"/>
          </a:ln>
        </p:spPr>
      </p:sp>
      <p:sp>
        <p:nvSpPr>
          <p:cNvPr id="42" name="Text 40"/>
          <p:cNvSpPr txBox="1"/>
          <p:nvPr/>
        </p:nvSpPr>
        <p:spPr>
          <a:xfrm>
            <a:off x="10058400" y="3346704"/>
            <a:ext cx="1673352" cy="438912"/>
          </a:xfrm>
          <a:prstGeom prst="roundRect">
            <a:avLst>
              <a:gd name="adj" fmla="val 16667"/>
            </a:avLst>
          </a:prstGeom>
          <a:solidFill>
            <a:srgbClr val="FFFFFF"/>
          </a:solidFill>
          <a:ln w="19050">
            <a:solidFill>
              <a:srgbClr val="0891B2"/>
            </a:solidFill>
          </a:ln>
        </p:spPr>
        <p:txBody>
          <a:bodyPr wrap="square" lIns="63500" tIns="63500" rIns="63500" bIns="63500" rtlCol="0" anchor="ctr"/>
          <a:lstStyle/>
          <a:p>
            <a:pPr algn="ctr" indent="0" marL="0">
              <a:buNone/>
            </a:pPr>
            <a:r>
              <a:rPr lang="en-US" sz="1200" dirty="0">
                <a:solidFill>
                  <a:srgbClr val="0B1026"/>
                </a:solidFill>
              </a:rPr>
              <a:t>Verifier re-checks metrics</a:t>
            </a:r>
            <a:endParaRPr lang="en-US" sz="1200" dirty="0"/>
          </a:p>
        </p:txBody>
      </p:sp>
      <p:sp>
        <p:nvSpPr>
          <p:cNvPr id="43" name="Shape 41"/>
          <p:cNvSpPr/>
          <p:nvPr/>
        </p:nvSpPr>
        <p:spPr>
          <a:xfrm>
            <a:off x="10895076" y="3785616"/>
            <a:ext cx="0" cy="137160"/>
          </a:xfrm>
          <a:prstGeom prst="line">
            <a:avLst/>
          </a:prstGeom>
          <a:noFill/>
          <a:ln w="15875">
            <a:solidFill>
              <a:srgbClr val="4A5578"/>
            </a:solidFill>
            <a:prstDash val="solid"/>
            <a:tailEnd type="triangle"/>
          </a:ln>
        </p:spPr>
      </p:sp>
      <p:sp>
        <p:nvSpPr>
          <p:cNvPr id="44" name="Text 42"/>
          <p:cNvSpPr txBox="1"/>
          <p:nvPr/>
        </p:nvSpPr>
        <p:spPr>
          <a:xfrm>
            <a:off x="10058400" y="3922776"/>
            <a:ext cx="1673352" cy="438912"/>
          </a:xfrm>
          <a:prstGeom prst="roundRect">
            <a:avLst>
              <a:gd name="adj" fmla="val 16667"/>
            </a:avLst>
          </a:prstGeom>
          <a:solidFill>
            <a:srgbClr val="FFFFFF"/>
          </a:solidFill>
          <a:ln w="19050">
            <a:solidFill>
              <a:srgbClr val="0891B2"/>
            </a:solidFill>
          </a:ln>
        </p:spPr>
        <p:txBody>
          <a:bodyPr wrap="square" lIns="63500" tIns="63500" rIns="63500" bIns="63500" rtlCol="0" anchor="ctr"/>
          <a:lstStyle/>
          <a:p>
            <a:pPr algn="ctr" indent="0" marL="0">
              <a:buNone/>
            </a:pPr>
            <a:r>
              <a:rPr lang="en-US" sz="1200" dirty="0">
                <a:solidFill>
                  <a:srgbClr val="0B1026"/>
                </a:solidFill>
              </a:rPr>
              <a:t>Report + audit log</a:t>
            </a:r>
            <a:endParaRPr lang="en-US" sz="1200" dirty="0"/>
          </a:p>
        </p:txBody>
      </p:sp>
      <p:sp>
        <p:nvSpPr>
          <p:cNvPr id="45" name="Text 43"/>
          <p:cNvSpPr txBox="1"/>
          <p:nvPr/>
        </p:nvSpPr>
        <p:spPr>
          <a:xfrm>
            <a:off x="10058400" y="4498848"/>
            <a:ext cx="1673352" cy="438912"/>
          </a:xfrm>
          <a:prstGeom prst="roundRect">
            <a:avLst>
              <a:gd name="adj" fmla="val 16667"/>
            </a:avLst>
          </a:prstGeom>
          <a:solidFill>
            <a:srgbClr val="FFFFFF"/>
          </a:solidFill>
          <a:ln w="15875">
            <a:solidFill>
              <a:srgbClr val="4A5578"/>
            </a:solidFill>
            <a:prstDash val="dash"/>
          </a:ln>
        </p:spPr>
        <p:txBody>
          <a:bodyPr wrap="square" lIns="63500" tIns="63500" rIns="63500" bIns="63500" rtlCol="0" anchor="ctr"/>
          <a:lstStyle/>
          <a:p>
            <a:pPr algn="ctr" indent="0" marL="0">
              <a:buNone/>
            </a:pPr>
            <a:r>
              <a:rPr lang="en-US" sz="1200" i="1" dirty="0">
                <a:solidFill>
                  <a:srgbClr val="0B1026"/>
                </a:solidFill>
              </a:rPr>
              <a:t>New evidence / failed fix</a:t>
            </a:r>
            <a:endParaRPr lang="en-US" sz="1200" dirty="0"/>
          </a:p>
        </p:txBody>
      </p:sp>
      <p:sp>
        <p:nvSpPr>
          <p:cNvPr id="46" name="Shape 44"/>
          <p:cNvSpPr/>
          <p:nvPr/>
        </p:nvSpPr>
        <p:spPr>
          <a:xfrm flipV="1">
            <a:off x="9166860" y="2414016"/>
            <a:ext cx="0" cy="512064"/>
          </a:xfrm>
          <a:prstGeom prst="line">
            <a:avLst/>
          </a:prstGeom>
          <a:noFill/>
          <a:ln w="22225">
            <a:solidFill>
              <a:srgbClr val="D97706"/>
            </a:solidFill>
            <a:prstDash val="solid"/>
          </a:ln>
        </p:spPr>
      </p:sp>
      <p:sp>
        <p:nvSpPr>
          <p:cNvPr id="47" name="Shape 45"/>
          <p:cNvSpPr/>
          <p:nvPr/>
        </p:nvSpPr>
        <p:spPr>
          <a:xfrm>
            <a:off x="9166860" y="2414016"/>
            <a:ext cx="891540" cy="0"/>
          </a:xfrm>
          <a:prstGeom prst="line">
            <a:avLst/>
          </a:prstGeom>
          <a:noFill/>
          <a:ln w="22225">
            <a:solidFill>
              <a:srgbClr val="D97706"/>
            </a:solidFill>
            <a:prstDash val="solid"/>
            <a:tailEnd type="triangle"/>
          </a:ln>
        </p:spPr>
      </p:sp>
      <p:sp>
        <p:nvSpPr>
          <p:cNvPr id="48" name="Shape 46"/>
          <p:cNvSpPr/>
          <p:nvPr/>
        </p:nvSpPr>
        <p:spPr>
          <a:xfrm>
            <a:off x="9784080" y="2414016"/>
            <a:ext cx="0" cy="0"/>
          </a:xfrm>
          <a:prstGeom prst="line">
            <a:avLst/>
          </a:prstGeom>
          <a:noFill/>
          <a:ln w="15875">
            <a:solidFill>
              <a:srgbClr val="4A5578"/>
            </a:solidFill>
            <a:prstDash val="solid"/>
          </a:ln>
        </p:spPr>
      </p:sp>
      <p:sp>
        <p:nvSpPr>
          <p:cNvPr id="49" name="Shape 47"/>
          <p:cNvSpPr/>
          <p:nvPr/>
        </p:nvSpPr>
        <p:spPr>
          <a:xfrm>
            <a:off x="9784080" y="3909060"/>
            <a:ext cx="0" cy="0"/>
          </a:xfrm>
          <a:prstGeom prst="line">
            <a:avLst/>
          </a:prstGeom>
          <a:noFill/>
          <a:ln w="15875">
            <a:solidFill>
              <a:srgbClr val="4A5578"/>
            </a:solidFill>
            <a:prstDash val="solid"/>
          </a:ln>
        </p:spPr>
      </p:sp>
      <p:sp>
        <p:nvSpPr>
          <p:cNvPr id="50" name="Shape 48"/>
          <p:cNvSpPr/>
          <p:nvPr/>
        </p:nvSpPr>
        <p:spPr>
          <a:xfrm flipH="1">
            <a:off x="9921240" y="3566160"/>
            <a:ext cx="137160" cy="0"/>
          </a:xfrm>
          <a:prstGeom prst="line">
            <a:avLst/>
          </a:prstGeom>
          <a:noFill/>
          <a:ln w="25400">
            <a:solidFill>
              <a:srgbClr val="7C3AED"/>
            </a:solidFill>
            <a:prstDash val="solid"/>
          </a:ln>
        </p:spPr>
      </p:sp>
      <p:sp>
        <p:nvSpPr>
          <p:cNvPr id="51" name="Shape 49"/>
          <p:cNvSpPr/>
          <p:nvPr/>
        </p:nvSpPr>
        <p:spPr>
          <a:xfrm>
            <a:off x="9921240" y="3566160"/>
            <a:ext cx="0" cy="1691640"/>
          </a:xfrm>
          <a:prstGeom prst="line">
            <a:avLst/>
          </a:prstGeom>
          <a:noFill/>
          <a:ln w="25400">
            <a:solidFill>
              <a:srgbClr val="7C3AED"/>
            </a:solidFill>
            <a:prstDash val="solid"/>
          </a:ln>
        </p:spPr>
      </p:sp>
      <p:sp>
        <p:nvSpPr>
          <p:cNvPr id="52" name="Shape 50"/>
          <p:cNvSpPr/>
          <p:nvPr/>
        </p:nvSpPr>
        <p:spPr>
          <a:xfrm>
            <a:off x="10895076" y="4937760"/>
            <a:ext cx="0" cy="320040"/>
          </a:xfrm>
          <a:prstGeom prst="line">
            <a:avLst/>
          </a:prstGeom>
          <a:noFill/>
          <a:ln w="25400">
            <a:solidFill>
              <a:srgbClr val="7C3AED"/>
            </a:solidFill>
            <a:prstDash val="solid"/>
          </a:ln>
        </p:spPr>
      </p:sp>
      <p:sp>
        <p:nvSpPr>
          <p:cNvPr id="53" name="Shape 51"/>
          <p:cNvSpPr/>
          <p:nvPr/>
        </p:nvSpPr>
        <p:spPr>
          <a:xfrm flipH="1">
            <a:off x="5943600" y="5257800"/>
            <a:ext cx="4951476" cy="0"/>
          </a:xfrm>
          <a:prstGeom prst="line">
            <a:avLst/>
          </a:prstGeom>
          <a:noFill/>
          <a:ln w="25400">
            <a:solidFill>
              <a:srgbClr val="7C3AED"/>
            </a:solidFill>
            <a:prstDash val="solid"/>
          </a:ln>
        </p:spPr>
      </p:sp>
      <p:sp>
        <p:nvSpPr>
          <p:cNvPr id="54" name="Shape 52"/>
          <p:cNvSpPr/>
          <p:nvPr/>
        </p:nvSpPr>
        <p:spPr>
          <a:xfrm flipV="1">
            <a:off x="5943600" y="4937760"/>
            <a:ext cx="0" cy="320040"/>
          </a:xfrm>
          <a:prstGeom prst="line">
            <a:avLst/>
          </a:prstGeom>
          <a:noFill/>
          <a:ln w="25400">
            <a:solidFill>
              <a:srgbClr val="7C3AED"/>
            </a:solidFill>
            <a:prstDash val="solid"/>
            <a:tailEnd type="triangle"/>
          </a:ln>
        </p:spPr>
      </p:sp>
      <p:sp>
        <p:nvSpPr>
          <p:cNvPr id="55" name="Text 53"/>
          <p:cNvSpPr txBox="1"/>
          <p:nvPr/>
        </p:nvSpPr>
        <p:spPr>
          <a:xfrm>
            <a:off x="6400800" y="5047488"/>
            <a:ext cx="3200400" cy="420624"/>
          </a:xfrm>
          <a:prstGeom prst="rect">
            <a:avLst>
              <a:gd name="adj" fmla="val 17391"/>
            </a:avLst>
          </a:prstGeom>
          <a:solidFill>
            <a:srgbClr val="FFFFFF"/>
          </a:solidFill>
          <a:ln w="12700">
            <a:solidFill>
              <a:srgbClr val="FFFFFF"/>
            </a:solidFill>
          </a:ln>
        </p:spPr>
        <p:txBody>
          <a:bodyPr wrap="square" lIns="0" tIns="0" rIns="0" bIns="0" rtlCol="0" anchor="ctr"/>
          <a:lstStyle/>
          <a:p>
            <a:pPr algn="ctr" indent="0" marL="0">
              <a:buNone/>
            </a:pPr>
            <a:r>
              <a:rPr lang="en-US" sz="1200" b="1" dirty="0">
                <a:solidFill>
                  <a:srgbClr val="7C3AED"/>
                </a:solidFill>
              </a:rPr>
              <a:t>Dynamic adaptation: replan on new evidence or failed fix</a:t>
            </a:r>
            <a:endParaRPr lang="en-US" sz="1200" dirty="0"/>
          </a:p>
        </p:txBody>
      </p:sp>
      <p:sp>
        <p:nvSpPr>
          <p:cNvPr id="56" name="Text 54"/>
          <p:cNvSpPr txBox="1"/>
          <p:nvPr/>
        </p:nvSpPr>
        <p:spPr>
          <a:xfrm>
            <a:off x="457200" y="5760720"/>
            <a:ext cx="3611880" cy="566928"/>
          </a:xfrm>
          <a:prstGeom prst="roundRect">
            <a:avLst>
              <a:gd name="adj" fmla="val 12903"/>
            </a:avLst>
          </a:prstGeom>
          <a:solidFill>
            <a:srgbClr val="FFFFFF"/>
          </a:solidFill>
          <a:ln w="19050">
            <a:solidFill>
              <a:srgbClr val="2563EB"/>
            </a:solidFill>
          </a:ln>
        </p:spPr>
        <p:txBody>
          <a:bodyPr wrap="square" lIns="88900" tIns="88900" rIns="88900" bIns="88900" rtlCol="0" anchor="ctr"/>
          <a:lstStyle/>
          <a:p>
            <a:pPr algn="l" indent="0" marL="0">
              <a:buNone/>
            </a:pPr>
            <a:r>
              <a:rPr lang="en-US" sz="1200" b="1" dirty="0">
                <a:solidFill>
                  <a:srgbClr val="0B1026"/>
                </a:solidFill>
              </a:rPr>
              <a:t>Working prototype: </a:t>
            </a:r>
            <a:pPr algn="l" indent="0" marL="0">
              <a:buNone/>
            </a:pPr>
            <a:r>
              <a:rPr lang="en-US" sz="1200" dirty="0">
                <a:solidFill>
                  <a:srgbClr val="0B1026"/>
                </a:solidFill>
              </a:rPr>
              <a:t>any scenario folder, same file schema, no code changes</a:t>
            </a:r>
            <a:endParaRPr lang="en-US" sz="1200" dirty="0"/>
          </a:p>
        </p:txBody>
      </p:sp>
      <p:sp>
        <p:nvSpPr>
          <p:cNvPr id="57" name="Text 55"/>
          <p:cNvSpPr txBox="1"/>
          <p:nvPr/>
        </p:nvSpPr>
        <p:spPr>
          <a:xfrm>
            <a:off x="4288536" y="5760720"/>
            <a:ext cx="3611880" cy="566928"/>
          </a:xfrm>
          <a:prstGeom prst="roundRect">
            <a:avLst>
              <a:gd name="adj" fmla="val 12903"/>
            </a:avLst>
          </a:prstGeom>
          <a:solidFill>
            <a:srgbClr val="FFFFFF"/>
          </a:solidFill>
          <a:ln w="19050">
            <a:solidFill>
              <a:srgbClr val="0891B2"/>
            </a:solidFill>
          </a:ln>
        </p:spPr>
        <p:txBody>
          <a:bodyPr wrap="square" lIns="88900" tIns="88900" rIns="88900" bIns="88900" rtlCol="0" anchor="ctr"/>
          <a:lstStyle/>
          <a:p>
            <a:pPr algn="l" indent="0" marL="0">
              <a:buNone/>
            </a:pPr>
            <a:r>
              <a:rPr lang="en-US" sz="1200" b="1" dirty="0">
                <a:solidFill>
                  <a:srgbClr val="0B1026"/>
                </a:solidFill>
              </a:rPr>
              <a:t>Responsible AI: </a:t>
            </a:r>
            <a:pPr algn="l" indent="0" marL="0">
              <a:buNone/>
            </a:pPr>
            <a:r>
              <a:rPr lang="en-US" sz="1200" dirty="0">
                <a:solidFill>
                  <a:srgbClr val="0B1026"/>
                </a:solidFill>
              </a:rPr>
              <a:t>PII masked, allow-listed actions, cited claims only, audit log</a:t>
            </a:r>
            <a:endParaRPr lang="en-US" sz="1200" dirty="0"/>
          </a:p>
        </p:txBody>
      </p:sp>
      <p:sp>
        <p:nvSpPr>
          <p:cNvPr id="58" name="Text 56"/>
          <p:cNvSpPr txBox="1"/>
          <p:nvPr/>
        </p:nvSpPr>
        <p:spPr>
          <a:xfrm>
            <a:off x="8119872" y="5760720"/>
            <a:ext cx="3611880" cy="566928"/>
          </a:xfrm>
          <a:prstGeom prst="roundRect">
            <a:avLst>
              <a:gd name="adj" fmla="val 12903"/>
            </a:avLst>
          </a:prstGeom>
          <a:solidFill>
            <a:srgbClr val="FEF3C7"/>
          </a:solidFill>
          <a:ln w="19050">
            <a:solidFill>
              <a:srgbClr val="D97706"/>
            </a:solidFill>
          </a:ln>
        </p:spPr>
        <p:txBody>
          <a:bodyPr wrap="square" lIns="88900" tIns="88900" rIns="88900" bIns="88900" rtlCol="0" anchor="ctr"/>
          <a:lstStyle/>
          <a:p>
            <a:pPr algn="l" indent="0" marL="0">
              <a:buNone/>
            </a:pPr>
            <a:r>
              <a:rPr lang="en-US" sz="1200" b="1" dirty="0">
                <a:solidFill>
                  <a:srgbClr val="0B1026"/>
                </a:solidFill>
              </a:rPr>
              <a:t>Guardrail: </a:t>
            </a:r>
            <a:pPr algn="l" indent="0" marL="0">
              <a:buNone/>
            </a:pPr>
            <a:r>
              <a:rPr lang="en-US" sz="1200" dirty="0">
                <a:solidFill>
                  <a:srgbClr val="0B1026"/>
                </a:solidFill>
              </a:rPr>
              <a:t>no production action without approval</a:t>
            </a:r>
            <a:endParaRPr lang="en-US" sz="1200" dirty="0"/>
          </a:p>
        </p:txBody>
      </p:sp>
      <p:sp>
        <p:nvSpPr>
          <p:cNvPr id="25" name="Slide Number Placeholder 0"/>
          <p:cNvSpPr>
            <a:spLocks noGrp="1"/>
          </p:cNvSpPr>
          <p:nvPr>
            <p:ph type="sldNum" sz="quarter" idx="4294967295"/>
          </p:nvPr>
        </p:nvSpPr>
        <p:spPr>
          <a:xfrm>
            <a:off x="11000232" y="6492240"/>
            <a:ext cx="731520" cy="256032"/>
          </a:xfrm>
          <a:prstGeom prst="rect">
            <a:avLst/>
          </a:prstGeom>
          <a:extLst>
            <a:ext uri="{C572A759-6A51-4108-AA02-DFA0A04FC94B}">
              <ma14:wrappingTextBoxFlag xmlns:ma14="http://schemas.microsoft.com/office/mac/drawingml/2011/main" val="0"/>
            </a:ext>
          </a:extLst>
        </p:spPr>
        <p:txBody>
          <a:bodyPr anchor="ctr"/>
          <a:lstStyle>
            <a:lvl1pPr>
              <a:defRPr sz="1000">
                <a:solidFill>
                  <a:srgbClr val="4A5578"/>
                </a:solidFill>
              </a:defRPr>
            </a:lvl1pPr>
          </a:lstStyle>
          <a:p>
            <a:pPr algn="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ph idx="100" type="title" hasCustomPrompt="1"/>
          </p:nvPr>
        </p:nvSpPr>
        <p:spPr>
          <a:xfrm>
            <a:off x="457200" y="320040"/>
            <a:ext cx="11274552" cy="914400"/>
          </a:xfrm>
          <a:prstGeom prst="rect">
            <a:avLst/>
          </a:prstGeom>
          <a:noFill/>
          <a:ln/>
        </p:spPr>
        <p:txBody>
          <a:bodyPr wrap="square" lIns="0" tIns="0" rIns="0" bIns="0" rtlCol="0" anchor="b"/>
          <a:lstStyle/>
          <a:p>
            <a:pPr algn="l" indent="0" marL="0">
              <a:buNone/>
            </a:pPr>
            <a:r>
              <a:rPr lang="en-US" sz="2800" dirty="0">
                <a:solidFill>
                  <a:srgbClr val="0B1026"/>
                </a:solidFill>
                <a:latin typeface="Segoe UI Semibold" pitchFamily="34" charset="0"/>
                <a:ea typeface="Segoe UI Semibold" pitchFamily="34" charset="-122"/>
                <a:cs typeface="Segoe UI Semibold" pitchFamily="34" charset="-120"/>
              </a:rPr>
              <a:t>What the engineer sees: a conclusion they can audit</a:t>
            </a:r>
            <a:endParaRPr lang="en-US" sz="2800" dirty="0"/>
          </a:p>
        </p:txBody>
      </p:sp>
      <p:sp>
        <p:nvSpPr>
          <p:cNvPr id="3" name="GRAD"/>
          <p:cNvSpPr/>
          <p:nvPr/>
        </p:nvSpPr>
        <p:spPr>
          <a:xfrm>
            <a:off x="457200" y="1325880"/>
            <a:ext cx="1463040" cy="45720"/>
          </a:xfrm>
          <a:prstGeom prst="rect">
            <a:avLst/>
          </a:prstGeom>
          <a:gradFill rotWithShape="1">
            <a:gsLst>
              <a:gs pos="0">
                <a:srgbClr val="2563EB"/>
              </a:gs>
              <a:gs pos="100000">
                <a:srgbClr val="7C3AED"/>
              </a:gs>
            </a:gsLst>
            <a:lin ang="0" scaled="0"/>
          </a:gradFill>
          <a:ln w="12700">
            <a:solidFill>
              <a:srgbClr val="2563EB"/>
            </a:solidFill>
            <a:prstDash val="solid"/>
          </a:ln>
        </p:spPr>
      </p:sp>
      <p:sp>
        <p:nvSpPr>
          <p:cNvPr id="4" name="Text 2"/>
          <p:cNvSpPr txBox="1"/>
          <p:nvPr/>
        </p:nvSpPr>
        <p:spPr>
          <a:xfrm>
            <a:off x="457200" y="1463040"/>
            <a:ext cx="3657600" cy="237744"/>
          </a:xfrm>
          <a:prstGeom prst="rect">
            <a:avLst/>
          </a:prstGeom>
          <a:noFill/>
          <a:ln/>
        </p:spPr>
        <p:txBody>
          <a:bodyPr wrap="square" lIns="0" tIns="0" rIns="0" bIns="0" rtlCol="0" anchor="ctr"/>
          <a:lstStyle/>
          <a:p>
            <a:pPr algn="l" indent="0" marL="0">
              <a:buNone/>
            </a:pPr>
            <a:r>
              <a:rPr lang="en-US" sz="1200" i="1" dirty="0">
                <a:solidFill>
                  <a:srgbClr val="4A5578"/>
                </a:solidFill>
              </a:rPr>
              <a:t>Illustrative simulated incident</a:t>
            </a:r>
            <a:endParaRPr lang="en-US" sz="1200" dirty="0"/>
          </a:p>
        </p:txBody>
      </p:sp>
      <p:sp>
        <p:nvSpPr>
          <p:cNvPr id="5" name="Text 3"/>
          <p:cNvSpPr txBox="1"/>
          <p:nvPr/>
        </p:nvSpPr>
        <p:spPr>
          <a:xfrm>
            <a:off x="4937760" y="1463040"/>
            <a:ext cx="6793992" cy="237744"/>
          </a:xfrm>
          <a:prstGeom prst="rect">
            <a:avLst/>
          </a:prstGeom>
          <a:noFill/>
          <a:ln/>
        </p:spPr>
        <p:txBody>
          <a:bodyPr wrap="square" lIns="0" tIns="0" rIns="0" bIns="0" rtlCol="0" anchor="ctr"/>
          <a:lstStyle/>
          <a:p>
            <a:pPr algn="r" indent="0" marL="0">
              <a:buNone/>
            </a:pPr>
            <a:r>
              <a:rPr lang="en-US" sz="1200" i="1" dirty="0">
                <a:solidFill>
                  <a:srgbClr val="4A5578"/>
                </a:solidFill>
              </a:rPr>
              <a:t>Full report with evidence trace and audit log is exported.</a:t>
            </a:r>
            <a:endParaRPr lang="en-US" sz="1200" dirty="0"/>
          </a:p>
        </p:txBody>
      </p:sp>
      <p:sp>
        <p:nvSpPr>
          <p:cNvPr id="6" name="Shape 4"/>
          <p:cNvSpPr/>
          <p:nvPr/>
        </p:nvSpPr>
        <p:spPr>
          <a:xfrm>
            <a:off x="457200" y="1783080"/>
            <a:ext cx="4389120" cy="2286000"/>
          </a:xfrm>
          <a:prstGeom prst="roundRect">
            <a:avLst>
              <a:gd name="adj" fmla="val 3200"/>
            </a:avLst>
          </a:prstGeom>
          <a:solidFill>
            <a:srgbClr val="FFFFFF"/>
          </a:solidFill>
          <a:ln w="12700">
            <a:solidFill>
              <a:srgbClr val="D6DCF0"/>
            </a:solidFill>
            <a:prstDash val="solid"/>
          </a:ln>
          <a:effectLst>
            <a:outerShdw sx="100000" sy="100000" kx="0" ky="0" algn="bl" rotWithShape="0" blurRad="76200" dist="12700" dir="5400000">
              <a:srgbClr val="0B1026">
                <a:alpha val="8000"/>
              </a:srgbClr>
            </a:outerShdw>
          </a:effectLst>
        </p:spPr>
      </p:sp>
      <p:sp>
        <p:nvSpPr>
          <p:cNvPr id="7" name="Text 5"/>
          <p:cNvSpPr txBox="1"/>
          <p:nvPr/>
        </p:nvSpPr>
        <p:spPr>
          <a:xfrm>
            <a:off x="685800" y="1874520"/>
            <a:ext cx="3200400" cy="274320"/>
          </a:xfrm>
          <a:prstGeom prst="rect">
            <a:avLst/>
          </a:prstGeom>
          <a:noFill/>
          <a:ln/>
        </p:spPr>
        <p:txBody>
          <a:bodyPr wrap="square" lIns="0" tIns="0" rIns="0" bIns="0" rtlCol="0" anchor="ctr"/>
          <a:lstStyle/>
          <a:p>
            <a:pPr algn="l" indent="0" marL="0">
              <a:buNone/>
            </a:pPr>
            <a:r>
              <a:rPr lang="en-US" sz="1400" b="1" dirty="0">
                <a:solidFill>
                  <a:srgbClr val="0B1026"/>
                </a:solidFill>
              </a:rPr>
              <a:t>Incident timeline</a:t>
            </a:r>
            <a:endParaRPr lang="en-US" sz="1400" dirty="0"/>
          </a:p>
        </p:txBody>
      </p:sp>
      <p:sp>
        <p:nvSpPr>
          <p:cNvPr id="8" name="Shape 6"/>
          <p:cNvSpPr/>
          <p:nvPr/>
        </p:nvSpPr>
        <p:spPr>
          <a:xfrm>
            <a:off x="795528" y="2487168"/>
            <a:ext cx="0" cy="1371600"/>
          </a:xfrm>
          <a:prstGeom prst="line">
            <a:avLst/>
          </a:prstGeom>
          <a:noFill/>
          <a:ln w="19050">
            <a:solidFill>
              <a:srgbClr val="D6DCF0"/>
            </a:solidFill>
            <a:prstDash val="solid"/>
          </a:ln>
        </p:spPr>
      </p:sp>
      <p:sp>
        <p:nvSpPr>
          <p:cNvPr id="9" name="Shape 7"/>
          <p:cNvSpPr/>
          <p:nvPr/>
        </p:nvSpPr>
        <p:spPr>
          <a:xfrm>
            <a:off x="740664" y="2395728"/>
            <a:ext cx="109728" cy="109728"/>
          </a:xfrm>
          <a:prstGeom prst="ellipse">
            <a:avLst>
              <a:gd name="adj" fmla="val 66667"/>
            </a:avLst>
          </a:prstGeom>
          <a:solidFill>
            <a:srgbClr val="2563EB"/>
          </a:solidFill>
          <a:ln w="12700">
            <a:solidFill>
              <a:srgbClr val="2563EB"/>
            </a:solidFill>
            <a:prstDash val="solid"/>
          </a:ln>
        </p:spPr>
      </p:sp>
      <p:sp>
        <p:nvSpPr>
          <p:cNvPr id="10" name="Text 8"/>
          <p:cNvSpPr txBox="1"/>
          <p:nvPr/>
        </p:nvSpPr>
        <p:spPr>
          <a:xfrm>
            <a:off x="1005840" y="2267712"/>
            <a:ext cx="594360" cy="365760"/>
          </a:xfrm>
          <a:prstGeom prst="rect">
            <a:avLst/>
          </a:prstGeom>
          <a:noFill/>
          <a:ln/>
        </p:spPr>
        <p:txBody>
          <a:bodyPr wrap="square" lIns="0" tIns="0" rIns="0" bIns="0" rtlCol="0" anchor="ctr"/>
          <a:lstStyle/>
          <a:p>
            <a:pPr algn="l" indent="0" marL="0">
              <a:buNone/>
            </a:pPr>
            <a:r>
              <a:rPr lang="en-US" sz="1200" b="1" dirty="0">
                <a:solidFill>
                  <a:srgbClr val="2563EB"/>
                </a:solidFill>
              </a:rPr>
              <a:t>13:50</a:t>
            </a:r>
            <a:endParaRPr lang="en-US" sz="1200" dirty="0"/>
          </a:p>
        </p:txBody>
      </p:sp>
      <p:sp>
        <p:nvSpPr>
          <p:cNvPr id="11" name="Text 9"/>
          <p:cNvSpPr txBox="1"/>
          <p:nvPr/>
        </p:nvSpPr>
        <p:spPr>
          <a:xfrm>
            <a:off x="1645920" y="2267712"/>
            <a:ext cx="3108960" cy="365760"/>
          </a:xfrm>
          <a:prstGeom prst="rect">
            <a:avLst/>
          </a:prstGeom>
          <a:noFill/>
          <a:ln/>
        </p:spPr>
        <p:txBody>
          <a:bodyPr wrap="square" lIns="0" tIns="0" rIns="0" bIns="0" rtlCol="0" anchor="ctr"/>
          <a:lstStyle/>
          <a:p>
            <a:pPr algn="l" indent="0" marL="0">
              <a:buNone/>
            </a:pPr>
            <a:r>
              <a:rPr lang="en-US" sz="1200" dirty="0">
                <a:solidFill>
                  <a:srgbClr val="0B1026"/>
                </a:solidFill>
              </a:rPr>
              <a:t>Deploy v2.4 on recommendations service</a:t>
            </a:r>
            <a:endParaRPr lang="en-US" sz="1200" dirty="0"/>
          </a:p>
        </p:txBody>
      </p:sp>
      <p:sp>
        <p:nvSpPr>
          <p:cNvPr id="12" name="Shape 10"/>
          <p:cNvSpPr/>
          <p:nvPr/>
        </p:nvSpPr>
        <p:spPr>
          <a:xfrm>
            <a:off x="740664" y="2852928"/>
            <a:ext cx="109728" cy="109728"/>
          </a:xfrm>
          <a:prstGeom prst="ellipse">
            <a:avLst>
              <a:gd name="adj" fmla="val 66667"/>
            </a:avLst>
          </a:prstGeom>
          <a:solidFill>
            <a:srgbClr val="D97706"/>
          </a:solidFill>
          <a:ln w="12700">
            <a:solidFill>
              <a:srgbClr val="D97706"/>
            </a:solidFill>
            <a:prstDash val="solid"/>
          </a:ln>
        </p:spPr>
      </p:sp>
      <p:sp>
        <p:nvSpPr>
          <p:cNvPr id="13" name="Text 11"/>
          <p:cNvSpPr txBox="1"/>
          <p:nvPr/>
        </p:nvSpPr>
        <p:spPr>
          <a:xfrm>
            <a:off x="1005840" y="2724912"/>
            <a:ext cx="594360" cy="365760"/>
          </a:xfrm>
          <a:prstGeom prst="rect">
            <a:avLst/>
          </a:prstGeom>
          <a:noFill/>
          <a:ln/>
        </p:spPr>
        <p:txBody>
          <a:bodyPr wrap="square" lIns="0" tIns="0" rIns="0" bIns="0" rtlCol="0" anchor="ctr"/>
          <a:lstStyle/>
          <a:p>
            <a:pPr algn="l" indent="0" marL="0">
              <a:buNone/>
            </a:pPr>
            <a:r>
              <a:rPr lang="en-US" sz="1200" b="1" dirty="0">
                <a:solidFill>
                  <a:srgbClr val="2563EB"/>
                </a:solidFill>
              </a:rPr>
              <a:t>13:58</a:t>
            </a:r>
            <a:endParaRPr lang="en-US" sz="1200" dirty="0"/>
          </a:p>
        </p:txBody>
      </p:sp>
      <p:sp>
        <p:nvSpPr>
          <p:cNvPr id="14" name="Text 12"/>
          <p:cNvSpPr txBox="1"/>
          <p:nvPr/>
        </p:nvSpPr>
        <p:spPr>
          <a:xfrm>
            <a:off x="1645920" y="2724912"/>
            <a:ext cx="3108960" cy="365760"/>
          </a:xfrm>
          <a:prstGeom prst="rect">
            <a:avLst/>
          </a:prstGeom>
          <a:noFill/>
          <a:ln/>
        </p:spPr>
        <p:txBody>
          <a:bodyPr wrap="square" lIns="0" tIns="0" rIns="0" bIns="0" rtlCol="0" anchor="ctr"/>
          <a:lstStyle/>
          <a:p>
            <a:pPr algn="l" indent="0" marL="0">
              <a:buNone/>
            </a:pPr>
            <a:r>
              <a:rPr lang="en-US" sz="1200" dirty="0">
                <a:solidFill>
                  <a:srgbClr val="0B1026"/>
                </a:solidFill>
              </a:rPr>
              <a:t>Config change on orders: DB pool size reduced</a:t>
            </a:r>
            <a:endParaRPr lang="en-US" sz="1200" dirty="0"/>
          </a:p>
        </p:txBody>
      </p:sp>
      <p:sp>
        <p:nvSpPr>
          <p:cNvPr id="15" name="Shape 13"/>
          <p:cNvSpPr/>
          <p:nvPr/>
        </p:nvSpPr>
        <p:spPr>
          <a:xfrm>
            <a:off x="740664" y="3310128"/>
            <a:ext cx="109728" cy="109728"/>
          </a:xfrm>
          <a:prstGeom prst="ellipse">
            <a:avLst>
              <a:gd name="adj" fmla="val 66667"/>
            </a:avLst>
          </a:prstGeom>
          <a:solidFill>
            <a:srgbClr val="2563EB"/>
          </a:solidFill>
          <a:ln w="12700">
            <a:solidFill>
              <a:srgbClr val="2563EB"/>
            </a:solidFill>
            <a:prstDash val="solid"/>
          </a:ln>
        </p:spPr>
      </p:sp>
      <p:sp>
        <p:nvSpPr>
          <p:cNvPr id="16" name="Text 14"/>
          <p:cNvSpPr txBox="1"/>
          <p:nvPr/>
        </p:nvSpPr>
        <p:spPr>
          <a:xfrm>
            <a:off x="1005840" y="3182112"/>
            <a:ext cx="594360" cy="365760"/>
          </a:xfrm>
          <a:prstGeom prst="rect">
            <a:avLst/>
          </a:prstGeom>
          <a:noFill/>
          <a:ln/>
        </p:spPr>
        <p:txBody>
          <a:bodyPr wrap="square" lIns="0" tIns="0" rIns="0" bIns="0" rtlCol="0" anchor="ctr"/>
          <a:lstStyle/>
          <a:p>
            <a:pPr algn="l" indent="0" marL="0">
              <a:buNone/>
            </a:pPr>
            <a:r>
              <a:rPr lang="en-US" sz="1200" b="1" dirty="0">
                <a:solidFill>
                  <a:srgbClr val="2563EB"/>
                </a:solidFill>
              </a:rPr>
              <a:t>14:01</a:t>
            </a:r>
            <a:endParaRPr lang="en-US" sz="1200" dirty="0"/>
          </a:p>
        </p:txBody>
      </p:sp>
      <p:sp>
        <p:nvSpPr>
          <p:cNvPr id="17" name="Text 15"/>
          <p:cNvSpPr txBox="1"/>
          <p:nvPr/>
        </p:nvSpPr>
        <p:spPr>
          <a:xfrm>
            <a:off x="1645920" y="3182112"/>
            <a:ext cx="3108960" cy="365760"/>
          </a:xfrm>
          <a:prstGeom prst="rect">
            <a:avLst/>
          </a:prstGeom>
          <a:noFill/>
          <a:ln/>
        </p:spPr>
        <p:txBody>
          <a:bodyPr wrap="square" lIns="0" tIns="0" rIns="0" bIns="0" rtlCol="0" anchor="ctr"/>
          <a:lstStyle/>
          <a:p>
            <a:pPr algn="l" indent="0" marL="0">
              <a:buNone/>
            </a:pPr>
            <a:r>
              <a:rPr lang="en-US" sz="1200" dirty="0">
                <a:solidFill>
                  <a:srgbClr val="0B1026"/>
                </a:solidFill>
              </a:rPr>
              <a:t>orders: "connection pool exhausted" errors</a:t>
            </a:r>
            <a:endParaRPr lang="en-US" sz="1200" dirty="0"/>
          </a:p>
        </p:txBody>
      </p:sp>
      <p:sp>
        <p:nvSpPr>
          <p:cNvPr id="18" name="Shape 16"/>
          <p:cNvSpPr/>
          <p:nvPr/>
        </p:nvSpPr>
        <p:spPr>
          <a:xfrm>
            <a:off x="740664" y="3767328"/>
            <a:ext cx="109728" cy="109728"/>
          </a:xfrm>
          <a:prstGeom prst="ellipse">
            <a:avLst>
              <a:gd name="adj" fmla="val 66667"/>
            </a:avLst>
          </a:prstGeom>
          <a:solidFill>
            <a:srgbClr val="2563EB"/>
          </a:solidFill>
          <a:ln w="12700">
            <a:solidFill>
              <a:srgbClr val="2563EB"/>
            </a:solidFill>
            <a:prstDash val="solid"/>
          </a:ln>
        </p:spPr>
      </p:sp>
      <p:sp>
        <p:nvSpPr>
          <p:cNvPr id="19" name="Text 17"/>
          <p:cNvSpPr txBox="1"/>
          <p:nvPr/>
        </p:nvSpPr>
        <p:spPr>
          <a:xfrm>
            <a:off x="1005840" y="3639312"/>
            <a:ext cx="594360" cy="365760"/>
          </a:xfrm>
          <a:prstGeom prst="rect">
            <a:avLst/>
          </a:prstGeom>
          <a:noFill/>
          <a:ln/>
        </p:spPr>
        <p:txBody>
          <a:bodyPr wrap="square" lIns="0" tIns="0" rIns="0" bIns="0" rtlCol="0" anchor="ctr"/>
          <a:lstStyle/>
          <a:p>
            <a:pPr algn="l" indent="0" marL="0">
              <a:buNone/>
            </a:pPr>
            <a:r>
              <a:rPr lang="en-US" sz="1200" b="1" dirty="0">
                <a:solidFill>
                  <a:srgbClr val="2563EB"/>
                </a:solidFill>
              </a:rPr>
              <a:t>14:01</a:t>
            </a:r>
            <a:endParaRPr lang="en-US" sz="1200" dirty="0"/>
          </a:p>
        </p:txBody>
      </p:sp>
      <p:sp>
        <p:nvSpPr>
          <p:cNvPr id="20" name="Text 18"/>
          <p:cNvSpPr txBox="1"/>
          <p:nvPr/>
        </p:nvSpPr>
        <p:spPr>
          <a:xfrm>
            <a:off x="1645920" y="3639312"/>
            <a:ext cx="3108960" cy="365760"/>
          </a:xfrm>
          <a:prstGeom prst="rect">
            <a:avLst/>
          </a:prstGeom>
          <a:noFill/>
          <a:ln/>
        </p:spPr>
        <p:txBody>
          <a:bodyPr wrap="square" lIns="0" tIns="0" rIns="0" bIns="0" rtlCol="0" anchor="ctr"/>
          <a:lstStyle/>
          <a:p>
            <a:pPr algn="l" indent="0" marL="0">
              <a:buNone/>
            </a:pPr>
            <a:r>
              <a:rPr lang="en-US" sz="1200" dirty="0">
                <a:solidFill>
                  <a:srgbClr val="0B1026"/>
                </a:solidFill>
              </a:rPr>
              <a:t>checkout: error rate and latency rise</a:t>
            </a:r>
            <a:endParaRPr lang="en-US" sz="1200" dirty="0"/>
          </a:p>
        </p:txBody>
      </p:sp>
      <p:sp>
        <p:nvSpPr>
          <p:cNvPr id="21" name="Shape 19"/>
          <p:cNvSpPr/>
          <p:nvPr/>
        </p:nvSpPr>
        <p:spPr>
          <a:xfrm>
            <a:off x="4937760" y="1783080"/>
            <a:ext cx="6793992" cy="2286000"/>
          </a:xfrm>
          <a:prstGeom prst="roundRect">
            <a:avLst>
              <a:gd name="adj" fmla="val 3200"/>
            </a:avLst>
          </a:prstGeom>
          <a:solidFill>
            <a:srgbClr val="FFFFFF"/>
          </a:solidFill>
          <a:ln w="12700">
            <a:solidFill>
              <a:srgbClr val="D6DCF0"/>
            </a:solidFill>
            <a:prstDash val="solid"/>
          </a:ln>
          <a:effectLst>
            <a:outerShdw sx="100000" sy="100000" kx="0" ky="0" algn="bl" rotWithShape="0" blurRad="76200" dist="12700" dir="5400000">
              <a:srgbClr val="0B1026">
                <a:alpha val="8000"/>
              </a:srgbClr>
            </a:outerShdw>
          </a:effectLst>
        </p:spPr>
      </p:sp>
      <p:sp>
        <p:nvSpPr>
          <p:cNvPr id="22" name="Text 20"/>
          <p:cNvSpPr txBox="1"/>
          <p:nvPr/>
        </p:nvSpPr>
        <p:spPr>
          <a:xfrm>
            <a:off x="5166360" y="1874520"/>
            <a:ext cx="3200400" cy="274320"/>
          </a:xfrm>
          <a:prstGeom prst="rect">
            <a:avLst/>
          </a:prstGeom>
          <a:noFill/>
          <a:ln/>
        </p:spPr>
        <p:txBody>
          <a:bodyPr wrap="square" lIns="0" tIns="0" rIns="0" bIns="0" rtlCol="0" anchor="ctr"/>
          <a:lstStyle/>
          <a:p>
            <a:pPr algn="l" indent="0" marL="0">
              <a:buNone/>
            </a:pPr>
            <a:r>
              <a:rPr lang="en-US" sz="1400" b="1" dirty="0">
                <a:solidFill>
                  <a:srgbClr val="0B1026"/>
                </a:solidFill>
              </a:rPr>
              <a:t>Hypothesis board</a:t>
            </a:r>
            <a:endParaRPr lang="en-US" sz="1400" dirty="0"/>
          </a:p>
        </p:txBody>
      </p:sp>
      <p:sp>
        <p:nvSpPr>
          <p:cNvPr id="23" name="Text 21"/>
          <p:cNvSpPr txBox="1"/>
          <p:nvPr/>
        </p:nvSpPr>
        <p:spPr>
          <a:xfrm>
            <a:off x="5166360" y="2249424"/>
            <a:ext cx="4572000" cy="201168"/>
          </a:xfrm>
          <a:prstGeom prst="rect">
            <a:avLst/>
          </a:prstGeom>
          <a:noFill/>
          <a:ln/>
        </p:spPr>
        <p:txBody>
          <a:bodyPr wrap="square" lIns="0" tIns="0" rIns="0" bIns="0" rtlCol="0" anchor="ctr"/>
          <a:lstStyle/>
          <a:p>
            <a:pPr algn="l" indent="0" marL="0">
              <a:buNone/>
            </a:pPr>
            <a:r>
              <a:rPr lang="en-US" sz="1200" b="1" dirty="0">
                <a:solidFill>
                  <a:srgbClr val="0B1026"/>
                </a:solidFill>
              </a:rPr>
              <a:t>DB pool exhaustion after config change</a:t>
            </a:r>
            <a:endParaRPr lang="en-US" sz="1200" dirty="0"/>
          </a:p>
        </p:txBody>
      </p:sp>
      <p:sp>
        <p:nvSpPr>
          <p:cNvPr id="24" name="Shape 22"/>
          <p:cNvSpPr/>
          <p:nvPr/>
        </p:nvSpPr>
        <p:spPr>
          <a:xfrm>
            <a:off x="5166360" y="2532888"/>
            <a:ext cx="2011680" cy="118872"/>
          </a:xfrm>
          <a:prstGeom prst="roundRect">
            <a:avLst>
              <a:gd name="adj" fmla="val 38462"/>
            </a:avLst>
          </a:prstGeom>
          <a:solidFill>
            <a:srgbClr val="2563EB"/>
          </a:solidFill>
          <a:ln w="12700">
            <a:solidFill>
              <a:srgbClr val="2563EB"/>
            </a:solidFill>
            <a:prstDash val="solid"/>
          </a:ln>
        </p:spPr>
      </p:sp>
      <p:sp>
        <p:nvSpPr>
          <p:cNvPr id="25" name="Text 23"/>
          <p:cNvSpPr txBox="1"/>
          <p:nvPr/>
        </p:nvSpPr>
        <p:spPr>
          <a:xfrm>
            <a:off x="7360920" y="2432304"/>
            <a:ext cx="822960" cy="237744"/>
          </a:xfrm>
          <a:prstGeom prst="roundRect">
            <a:avLst>
              <a:gd name="adj" fmla="val 38462"/>
            </a:avLst>
          </a:prstGeom>
          <a:solidFill>
            <a:srgbClr val="E0E7FF"/>
          </a:solidFill>
          <a:ln w="12700">
            <a:solidFill>
              <a:srgbClr val="2563EB"/>
            </a:solidFill>
          </a:ln>
        </p:spPr>
        <p:txBody>
          <a:bodyPr wrap="square" lIns="0" tIns="0" rIns="0" bIns="0" rtlCol="0" anchor="ctr"/>
          <a:lstStyle/>
          <a:p>
            <a:pPr algn="ctr" indent="0" marL="0">
              <a:buNone/>
            </a:pPr>
            <a:r>
              <a:rPr lang="en-US" sz="1200" b="1" dirty="0">
                <a:solidFill>
                  <a:srgbClr val="2563EB"/>
                </a:solidFill>
              </a:rPr>
              <a:t>Leading</a:t>
            </a:r>
            <a:endParaRPr lang="en-US" sz="1200" dirty="0"/>
          </a:p>
        </p:txBody>
      </p:sp>
      <p:sp>
        <p:nvSpPr>
          <p:cNvPr id="26" name="Text 24"/>
          <p:cNvSpPr txBox="1"/>
          <p:nvPr/>
        </p:nvSpPr>
        <p:spPr>
          <a:xfrm>
            <a:off x="8321040" y="2432304"/>
            <a:ext cx="713232" cy="237744"/>
          </a:xfrm>
          <a:prstGeom prst="roundRect">
            <a:avLst>
              <a:gd name="adj" fmla="val 30769"/>
            </a:avLst>
          </a:prstGeom>
          <a:solidFill>
            <a:srgbClr val="D1FAE5"/>
          </a:solidFill>
          <a:ln w="12700">
            <a:solidFill>
              <a:srgbClr val="059669"/>
            </a:solidFill>
          </a:ln>
        </p:spPr>
        <p:txBody>
          <a:bodyPr wrap="square" lIns="0" tIns="0" rIns="0" bIns="0" rtlCol="0" anchor="ctr"/>
          <a:lstStyle/>
          <a:p>
            <a:pPr algn="ctr" indent="0" marL="0">
              <a:buNone/>
            </a:pPr>
            <a:r>
              <a:rPr lang="en-US" sz="1200" dirty="0">
                <a:solidFill>
                  <a:srgbClr val="0B1026"/>
                </a:solidFill>
              </a:rPr>
              <a:t>EV-014</a:t>
            </a:r>
            <a:endParaRPr lang="en-US" sz="1200" dirty="0"/>
          </a:p>
        </p:txBody>
      </p:sp>
      <p:sp>
        <p:nvSpPr>
          <p:cNvPr id="27" name="Text 25"/>
          <p:cNvSpPr txBox="1"/>
          <p:nvPr/>
        </p:nvSpPr>
        <p:spPr>
          <a:xfrm>
            <a:off x="9098280" y="2432304"/>
            <a:ext cx="713232" cy="237744"/>
          </a:xfrm>
          <a:prstGeom prst="roundRect">
            <a:avLst>
              <a:gd name="adj" fmla="val 30769"/>
            </a:avLst>
          </a:prstGeom>
          <a:solidFill>
            <a:srgbClr val="D1FAE5"/>
          </a:solidFill>
          <a:ln w="12700">
            <a:solidFill>
              <a:srgbClr val="059669"/>
            </a:solidFill>
          </a:ln>
        </p:spPr>
        <p:txBody>
          <a:bodyPr wrap="square" lIns="0" tIns="0" rIns="0" bIns="0" rtlCol="0" anchor="ctr"/>
          <a:lstStyle/>
          <a:p>
            <a:pPr algn="ctr" indent="0" marL="0">
              <a:buNone/>
            </a:pPr>
            <a:r>
              <a:rPr lang="en-US" sz="1200" dirty="0">
                <a:solidFill>
                  <a:srgbClr val="0B1026"/>
                </a:solidFill>
              </a:rPr>
              <a:t>EV-017</a:t>
            </a:r>
            <a:endParaRPr lang="en-US" sz="1200" dirty="0"/>
          </a:p>
        </p:txBody>
      </p:sp>
      <p:sp>
        <p:nvSpPr>
          <p:cNvPr id="28" name="Text 26"/>
          <p:cNvSpPr txBox="1"/>
          <p:nvPr/>
        </p:nvSpPr>
        <p:spPr>
          <a:xfrm>
            <a:off x="9875520" y="2432304"/>
            <a:ext cx="713232" cy="237744"/>
          </a:xfrm>
          <a:prstGeom prst="roundRect">
            <a:avLst>
              <a:gd name="adj" fmla="val 30769"/>
            </a:avLst>
          </a:prstGeom>
          <a:solidFill>
            <a:srgbClr val="FEE2E2"/>
          </a:solidFill>
          <a:ln w="12700">
            <a:solidFill>
              <a:srgbClr val="DC2626"/>
            </a:solidFill>
          </a:ln>
        </p:spPr>
        <p:txBody>
          <a:bodyPr wrap="square" lIns="0" tIns="0" rIns="0" bIns="0" rtlCol="0" anchor="ctr"/>
          <a:lstStyle/>
          <a:p>
            <a:pPr algn="ctr" indent="0" marL="0">
              <a:buNone/>
            </a:pPr>
            <a:r>
              <a:rPr lang="en-US" sz="1200" dirty="0">
                <a:solidFill>
                  <a:srgbClr val="0B1026"/>
                </a:solidFill>
              </a:rPr>
              <a:t>EV-021</a:t>
            </a:r>
            <a:endParaRPr lang="en-US" sz="1200" dirty="0"/>
          </a:p>
        </p:txBody>
      </p:sp>
      <p:sp>
        <p:nvSpPr>
          <p:cNvPr id="29" name="Text 27"/>
          <p:cNvSpPr txBox="1"/>
          <p:nvPr/>
        </p:nvSpPr>
        <p:spPr>
          <a:xfrm>
            <a:off x="5166360" y="2697480"/>
            <a:ext cx="4572000" cy="201168"/>
          </a:xfrm>
          <a:prstGeom prst="rect">
            <a:avLst/>
          </a:prstGeom>
          <a:noFill/>
          <a:ln/>
        </p:spPr>
        <p:txBody>
          <a:bodyPr wrap="square" lIns="0" tIns="0" rIns="0" bIns="0" rtlCol="0" anchor="ctr"/>
          <a:lstStyle/>
          <a:p>
            <a:pPr algn="l" indent="0" marL="0">
              <a:buNone/>
            </a:pPr>
            <a:r>
              <a:rPr lang="en-US" sz="1200" b="1" dirty="0">
                <a:solidFill>
                  <a:srgbClr val="0B1026"/>
                </a:solidFill>
              </a:rPr>
              <a:t>Bad deploy on recommendations</a:t>
            </a:r>
            <a:endParaRPr lang="en-US" sz="1200" dirty="0"/>
          </a:p>
        </p:txBody>
      </p:sp>
      <p:sp>
        <p:nvSpPr>
          <p:cNvPr id="30" name="Shape 28"/>
          <p:cNvSpPr/>
          <p:nvPr/>
        </p:nvSpPr>
        <p:spPr>
          <a:xfrm>
            <a:off x="5166360" y="2980944"/>
            <a:ext cx="822960" cy="118872"/>
          </a:xfrm>
          <a:prstGeom prst="roundRect">
            <a:avLst>
              <a:gd name="adj" fmla="val 38462"/>
            </a:avLst>
          </a:prstGeom>
          <a:solidFill>
            <a:srgbClr val="9AA5C8"/>
          </a:solidFill>
          <a:ln w="12700">
            <a:solidFill>
              <a:srgbClr val="9AA5C8"/>
            </a:solidFill>
            <a:prstDash val="solid"/>
          </a:ln>
        </p:spPr>
      </p:sp>
      <p:sp>
        <p:nvSpPr>
          <p:cNvPr id="31" name="Text 29"/>
          <p:cNvSpPr txBox="1"/>
          <p:nvPr/>
        </p:nvSpPr>
        <p:spPr>
          <a:xfrm>
            <a:off x="7360920" y="2880360"/>
            <a:ext cx="4206240" cy="237744"/>
          </a:xfrm>
          <a:prstGeom prst="rect">
            <a:avLst/>
          </a:prstGeom>
          <a:noFill/>
          <a:ln/>
        </p:spPr>
        <p:txBody>
          <a:bodyPr wrap="square" lIns="0" tIns="0" rIns="0" bIns="0" rtlCol="0" anchor="ctr"/>
          <a:lstStyle/>
          <a:p>
            <a:pPr algn="l" indent="0" marL="0">
              <a:buNone/>
            </a:pPr>
            <a:r>
              <a:rPr lang="en-US" sz="1200" dirty="0">
                <a:solidFill>
                  <a:srgbClr val="4A5578"/>
                </a:solidFill>
              </a:rPr>
              <a:t>Rejected: not on checkout path, timing does not fit</a:t>
            </a:r>
            <a:endParaRPr lang="en-US" sz="1200" dirty="0"/>
          </a:p>
        </p:txBody>
      </p:sp>
      <p:sp>
        <p:nvSpPr>
          <p:cNvPr id="32" name="Text 30"/>
          <p:cNvSpPr txBox="1"/>
          <p:nvPr/>
        </p:nvSpPr>
        <p:spPr>
          <a:xfrm>
            <a:off x="5166360" y="3145536"/>
            <a:ext cx="4572000" cy="201168"/>
          </a:xfrm>
          <a:prstGeom prst="rect">
            <a:avLst/>
          </a:prstGeom>
          <a:noFill/>
          <a:ln/>
        </p:spPr>
        <p:txBody>
          <a:bodyPr wrap="square" lIns="0" tIns="0" rIns="0" bIns="0" rtlCol="0" anchor="ctr"/>
          <a:lstStyle/>
          <a:p>
            <a:pPr algn="l" indent="0" marL="0">
              <a:buNone/>
            </a:pPr>
            <a:r>
              <a:rPr lang="en-US" sz="1200" b="1" dirty="0">
                <a:solidFill>
                  <a:srgbClr val="0B1026"/>
                </a:solidFill>
              </a:rPr>
              <a:t>Payment gateway degradation</a:t>
            </a:r>
            <a:endParaRPr lang="en-US" sz="1200" dirty="0"/>
          </a:p>
        </p:txBody>
      </p:sp>
      <p:sp>
        <p:nvSpPr>
          <p:cNvPr id="33" name="Shape 31"/>
          <p:cNvSpPr/>
          <p:nvPr/>
        </p:nvSpPr>
        <p:spPr>
          <a:xfrm>
            <a:off x="5166360" y="3429000"/>
            <a:ext cx="640080" cy="118872"/>
          </a:xfrm>
          <a:prstGeom prst="roundRect">
            <a:avLst>
              <a:gd name="adj" fmla="val 38462"/>
            </a:avLst>
          </a:prstGeom>
          <a:solidFill>
            <a:srgbClr val="9AA5C8"/>
          </a:solidFill>
          <a:ln w="12700">
            <a:solidFill>
              <a:srgbClr val="9AA5C8"/>
            </a:solidFill>
            <a:prstDash val="solid"/>
          </a:ln>
        </p:spPr>
      </p:sp>
      <p:sp>
        <p:nvSpPr>
          <p:cNvPr id="34" name="Text 32"/>
          <p:cNvSpPr txBox="1"/>
          <p:nvPr/>
        </p:nvSpPr>
        <p:spPr>
          <a:xfrm>
            <a:off x="7360920" y="3328416"/>
            <a:ext cx="4206240" cy="237744"/>
          </a:xfrm>
          <a:prstGeom prst="rect">
            <a:avLst/>
          </a:prstGeom>
          <a:noFill/>
          <a:ln/>
        </p:spPr>
        <p:txBody>
          <a:bodyPr wrap="square" lIns="0" tIns="0" rIns="0" bIns="0" rtlCol="0" anchor="ctr"/>
          <a:lstStyle/>
          <a:p>
            <a:pPr algn="l" indent="0" marL="0">
              <a:buNone/>
            </a:pPr>
            <a:r>
              <a:rPr lang="en-US" sz="1200" dirty="0">
                <a:solidFill>
                  <a:srgbClr val="4A5578"/>
                </a:solidFill>
              </a:rPr>
              <a:t>Contradicted</a:t>
            </a:r>
            <a:endParaRPr lang="en-US" sz="1200" dirty="0"/>
          </a:p>
        </p:txBody>
      </p:sp>
      <p:sp>
        <p:nvSpPr>
          <p:cNvPr id="35" name="Text 33"/>
          <p:cNvSpPr txBox="1"/>
          <p:nvPr/>
        </p:nvSpPr>
        <p:spPr>
          <a:xfrm>
            <a:off x="5166360" y="3593592"/>
            <a:ext cx="4572000" cy="201168"/>
          </a:xfrm>
          <a:prstGeom prst="rect">
            <a:avLst/>
          </a:prstGeom>
          <a:noFill/>
          <a:ln/>
        </p:spPr>
        <p:txBody>
          <a:bodyPr wrap="square" lIns="0" tIns="0" rIns="0" bIns="0" rtlCol="0" anchor="ctr"/>
          <a:lstStyle/>
          <a:p>
            <a:pPr algn="l" indent="0" marL="0">
              <a:buNone/>
            </a:pPr>
            <a:r>
              <a:rPr lang="en-US" sz="1200" b="1" dirty="0">
                <a:solidFill>
                  <a:srgbClr val="0B1026"/>
                </a:solidFill>
              </a:rPr>
              <a:t>Memory leak</a:t>
            </a:r>
            <a:endParaRPr lang="en-US" sz="1200" dirty="0"/>
          </a:p>
        </p:txBody>
      </p:sp>
      <p:sp>
        <p:nvSpPr>
          <p:cNvPr id="36" name="Shape 34"/>
          <p:cNvSpPr/>
          <p:nvPr/>
        </p:nvSpPr>
        <p:spPr>
          <a:xfrm>
            <a:off x="5166360" y="3877056"/>
            <a:ext cx="457200" cy="118872"/>
          </a:xfrm>
          <a:prstGeom prst="roundRect">
            <a:avLst>
              <a:gd name="adj" fmla="val 38462"/>
            </a:avLst>
          </a:prstGeom>
          <a:solidFill>
            <a:srgbClr val="9AA5C8"/>
          </a:solidFill>
          <a:ln w="12700">
            <a:solidFill>
              <a:srgbClr val="9AA5C8"/>
            </a:solidFill>
            <a:prstDash val="solid"/>
          </a:ln>
        </p:spPr>
      </p:sp>
      <p:sp>
        <p:nvSpPr>
          <p:cNvPr id="37" name="Text 35"/>
          <p:cNvSpPr txBox="1"/>
          <p:nvPr/>
        </p:nvSpPr>
        <p:spPr>
          <a:xfrm>
            <a:off x="7360920" y="3776472"/>
            <a:ext cx="4206240" cy="237744"/>
          </a:xfrm>
          <a:prstGeom prst="rect">
            <a:avLst/>
          </a:prstGeom>
          <a:noFill/>
          <a:ln/>
        </p:spPr>
        <p:txBody>
          <a:bodyPr wrap="square" lIns="0" tIns="0" rIns="0" bIns="0" rtlCol="0" anchor="ctr"/>
          <a:lstStyle/>
          <a:p>
            <a:pPr algn="l" indent="0" marL="0">
              <a:buNone/>
            </a:pPr>
            <a:r>
              <a:rPr lang="en-US" sz="1200" dirty="0">
                <a:solidFill>
                  <a:srgbClr val="4A5578"/>
                </a:solidFill>
              </a:rPr>
              <a:t>No supporting evidence</a:t>
            </a:r>
            <a:endParaRPr lang="en-US" sz="1200" dirty="0"/>
          </a:p>
        </p:txBody>
      </p:sp>
      <p:sp>
        <p:nvSpPr>
          <p:cNvPr id="38" name="Shape 36"/>
          <p:cNvSpPr/>
          <p:nvPr/>
        </p:nvSpPr>
        <p:spPr>
          <a:xfrm>
            <a:off x="457200" y="4206240"/>
            <a:ext cx="4389120" cy="1417320"/>
          </a:xfrm>
          <a:prstGeom prst="roundRect">
            <a:avLst>
              <a:gd name="adj" fmla="val 5161"/>
            </a:avLst>
          </a:prstGeom>
          <a:solidFill>
            <a:srgbClr val="FFFFFF"/>
          </a:solidFill>
          <a:ln w="12700">
            <a:solidFill>
              <a:srgbClr val="D6DCF0"/>
            </a:solidFill>
            <a:prstDash val="solid"/>
          </a:ln>
          <a:effectLst>
            <a:outerShdw sx="100000" sy="100000" kx="0" ky="0" algn="bl" rotWithShape="0" blurRad="76200" dist="12700" dir="5400000">
              <a:srgbClr val="0B1026">
                <a:alpha val="8000"/>
              </a:srgbClr>
            </a:outerShdw>
          </a:effectLst>
        </p:spPr>
      </p:sp>
      <p:sp>
        <p:nvSpPr>
          <p:cNvPr id="39" name="Text 37"/>
          <p:cNvSpPr txBox="1"/>
          <p:nvPr/>
        </p:nvSpPr>
        <p:spPr>
          <a:xfrm>
            <a:off x="685800" y="4297680"/>
            <a:ext cx="3200400" cy="274320"/>
          </a:xfrm>
          <a:prstGeom prst="rect">
            <a:avLst/>
          </a:prstGeom>
          <a:noFill/>
          <a:ln/>
        </p:spPr>
        <p:txBody>
          <a:bodyPr wrap="square" lIns="0" tIns="0" rIns="0" bIns="0" rtlCol="0" anchor="ctr"/>
          <a:lstStyle/>
          <a:p>
            <a:pPr algn="l" indent="0" marL="0">
              <a:buNone/>
            </a:pPr>
            <a:r>
              <a:rPr lang="en-US" sz="1400" b="1" dirty="0">
                <a:solidFill>
                  <a:srgbClr val="0B1026"/>
                </a:solidFill>
              </a:rPr>
              <a:t>Investigation log</a:t>
            </a:r>
            <a:endParaRPr lang="en-US" sz="1400" dirty="0"/>
          </a:p>
        </p:txBody>
      </p:sp>
      <p:sp>
        <p:nvSpPr>
          <p:cNvPr id="40" name="Text 38"/>
          <p:cNvSpPr txBox="1"/>
          <p:nvPr/>
        </p:nvSpPr>
        <p:spPr>
          <a:xfrm>
            <a:off x="685800" y="4645152"/>
            <a:ext cx="4023360" cy="914400"/>
          </a:xfrm>
          <a:prstGeom prst="rect">
            <a:avLst/>
          </a:prstGeom>
          <a:noFill/>
          <a:ln/>
        </p:spPr>
        <p:txBody>
          <a:bodyPr wrap="square" lIns="0" tIns="0" rIns="0" bIns="0" rtlCol="0" anchor="t"/>
          <a:lstStyle/>
          <a:p>
            <a:pPr algn="l" indent="0" marL="0">
              <a:buNone/>
            </a:pPr>
            <a:r>
              <a:rPr lang="en-US" sz="1200" dirty="0">
                <a:solidFill>
                  <a:srgbClr val="0B1026"/>
                </a:solidFill>
              </a:rPr>
              <a:t>Checked config changes → EV-014</a:t>
            </a:r>
            <a:endParaRPr lang="en-US" sz="1200" dirty="0"/>
          </a:p>
          <a:p>
            <a:pPr algn="l" indent="0" marL="0">
              <a:buNone/>
            </a:pPr>
            <a:r>
              <a:rPr lang="en-US" sz="1200" dirty="0">
                <a:solidFill>
                  <a:srgbClr val="0B1026"/>
                </a:solidFill>
              </a:rPr>
              <a:t>Dependencies: recommendations off checkout path</a:t>
            </a:r>
            <a:endParaRPr lang="en-US" sz="1200" dirty="0"/>
          </a:p>
          <a:p>
            <a:pPr algn="l" indent="0" marL="0">
              <a:buNone/>
            </a:pPr>
            <a:r>
              <a:rPr lang="en-US" sz="1200" dirty="0">
                <a:solidFill>
                  <a:srgbClr val="0B1026"/>
                </a:solidFill>
              </a:rPr>
              <a:t>Replanned after new evidence</a:t>
            </a:r>
            <a:endParaRPr lang="en-US" sz="1200" dirty="0"/>
          </a:p>
        </p:txBody>
      </p:sp>
      <p:sp>
        <p:nvSpPr>
          <p:cNvPr id="41" name="Shape 39"/>
          <p:cNvSpPr/>
          <p:nvPr/>
        </p:nvSpPr>
        <p:spPr>
          <a:xfrm>
            <a:off x="4937760" y="4206240"/>
            <a:ext cx="6793992" cy="1005840"/>
          </a:xfrm>
          <a:prstGeom prst="roundRect">
            <a:avLst>
              <a:gd name="adj" fmla="val 7273"/>
            </a:avLst>
          </a:prstGeom>
          <a:solidFill>
            <a:srgbClr val="FEF3C7"/>
          </a:solidFill>
          <a:ln w="19050">
            <a:solidFill>
              <a:srgbClr val="D97706"/>
            </a:solidFill>
            <a:prstDash val="solid"/>
          </a:ln>
        </p:spPr>
      </p:sp>
      <p:sp>
        <p:nvSpPr>
          <p:cNvPr id="42" name="Text 40"/>
          <p:cNvSpPr txBox="1"/>
          <p:nvPr/>
        </p:nvSpPr>
        <p:spPr>
          <a:xfrm>
            <a:off x="5166360" y="4279392"/>
            <a:ext cx="4572000" cy="256032"/>
          </a:xfrm>
          <a:prstGeom prst="rect">
            <a:avLst/>
          </a:prstGeom>
          <a:noFill/>
          <a:ln/>
        </p:spPr>
        <p:txBody>
          <a:bodyPr wrap="square" lIns="0" tIns="0" rIns="0" bIns="0" rtlCol="0" anchor="ctr"/>
          <a:lstStyle/>
          <a:p>
            <a:pPr algn="l" indent="0" marL="0">
              <a:buNone/>
            </a:pPr>
            <a:r>
              <a:rPr lang="en-US" sz="1300" b="1" dirty="0">
                <a:solidFill>
                  <a:srgbClr val="0B1026"/>
                </a:solidFill>
              </a:rPr>
              <a:t>Proposed: </a:t>
            </a:r>
            <a:pPr algn="l" indent="0" marL="0">
              <a:buNone/>
            </a:pPr>
            <a:r>
              <a:rPr lang="en-US" sz="1300" dirty="0">
                <a:solidFill>
                  <a:srgbClr val="0B1026"/>
                </a:solidFill>
              </a:rPr>
              <a:t>revert orders DB pool size change</a:t>
            </a:r>
            <a:endParaRPr lang="en-US" sz="1300" dirty="0"/>
          </a:p>
        </p:txBody>
      </p:sp>
      <p:sp>
        <p:nvSpPr>
          <p:cNvPr id="43" name="Text 41"/>
          <p:cNvSpPr txBox="1"/>
          <p:nvPr/>
        </p:nvSpPr>
        <p:spPr>
          <a:xfrm>
            <a:off x="5166360" y="4590288"/>
            <a:ext cx="4937760" cy="237744"/>
          </a:xfrm>
          <a:prstGeom prst="rect">
            <a:avLst/>
          </a:prstGeom>
          <a:noFill/>
          <a:ln/>
        </p:spPr>
        <p:txBody>
          <a:bodyPr wrap="square" lIns="0" tIns="0" rIns="0" bIns="0" rtlCol="0" anchor="ctr"/>
          <a:lstStyle/>
          <a:p>
            <a:pPr algn="l" indent="0" marL="0">
              <a:buNone/>
            </a:pPr>
            <a:r>
              <a:rPr lang="en-US" sz="1200" dirty="0">
                <a:solidFill>
                  <a:srgbClr val="0B1026"/>
                </a:solidFill>
              </a:rPr>
              <a:t>Risk: medium  |  Evidence: EV-014  |  Rollback plan included</a:t>
            </a:r>
            <a:endParaRPr lang="en-US" sz="1200" dirty="0"/>
          </a:p>
        </p:txBody>
      </p:sp>
      <p:sp>
        <p:nvSpPr>
          <p:cNvPr id="44" name="Text 42"/>
          <p:cNvSpPr txBox="1"/>
          <p:nvPr/>
        </p:nvSpPr>
        <p:spPr>
          <a:xfrm>
            <a:off x="10058400" y="4315968"/>
            <a:ext cx="1417320" cy="292608"/>
          </a:xfrm>
          <a:prstGeom prst="roundRect">
            <a:avLst>
              <a:gd name="adj" fmla="val 31250"/>
            </a:avLst>
          </a:prstGeom>
          <a:solidFill>
            <a:srgbClr val="FFFFFF"/>
          </a:solidFill>
          <a:ln w="19050">
            <a:solidFill>
              <a:srgbClr val="D97706"/>
            </a:solidFill>
          </a:ln>
        </p:spPr>
        <p:txBody>
          <a:bodyPr wrap="square" lIns="0" tIns="0" rIns="0" bIns="0" rtlCol="0" anchor="ctr"/>
          <a:lstStyle/>
          <a:p>
            <a:pPr algn="ctr" indent="0" marL="0">
              <a:buNone/>
            </a:pPr>
            <a:r>
              <a:rPr lang="en-US" sz="1200" b="1" dirty="0">
                <a:solidFill>
                  <a:srgbClr val="0B1026"/>
                </a:solidFill>
              </a:rPr>
              <a:t>Approve</a:t>
            </a:r>
            <a:endParaRPr lang="en-US" sz="1200" dirty="0"/>
          </a:p>
        </p:txBody>
      </p:sp>
      <p:sp>
        <p:nvSpPr>
          <p:cNvPr id="45" name="Text 43"/>
          <p:cNvSpPr txBox="1"/>
          <p:nvPr/>
        </p:nvSpPr>
        <p:spPr>
          <a:xfrm>
            <a:off x="10058400" y="4736592"/>
            <a:ext cx="1417320" cy="292608"/>
          </a:xfrm>
          <a:prstGeom prst="roundRect">
            <a:avLst>
              <a:gd name="adj" fmla="val 31250"/>
            </a:avLst>
          </a:prstGeom>
          <a:solidFill>
            <a:srgbClr val="FFFFFF"/>
          </a:solidFill>
          <a:ln w="19050">
            <a:solidFill>
              <a:srgbClr val="D97706"/>
            </a:solidFill>
          </a:ln>
        </p:spPr>
        <p:txBody>
          <a:bodyPr wrap="square" lIns="0" tIns="0" rIns="0" bIns="0" rtlCol="0" anchor="ctr"/>
          <a:lstStyle/>
          <a:p>
            <a:pPr algn="ctr" indent="0" marL="0">
              <a:buNone/>
            </a:pPr>
            <a:r>
              <a:rPr lang="en-US" sz="1200" b="1" dirty="0">
                <a:solidFill>
                  <a:srgbClr val="0B1026"/>
                </a:solidFill>
              </a:rPr>
              <a:t>Reject</a:t>
            </a:r>
            <a:endParaRPr lang="en-US" sz="1200" dirty="0"/>
          </a:p>
        </p:txBody>
      </p:sp>
      <p:sp>
        <p:nvSpPr>
          <p:cNvPr id="46" name="Text 44"/>
          <p:cNvSpPr txBox="1"/>
          <p:nvPr/>
        </p:nvSpPr>
        <p:spPr>
          <a:xfrm>
            <a:off x="4937760" y="5303520"/>
            <a:ext cx="6793992" cy="274320"/>
          </a:xfrm>
          <a:prstGeom prst="rect">
            <a:avLst/>
          </a:prstGeom>
          <a:noFill/>
          <a:ln/>
        </p:spPr>
        <p:txBody>
          <a:bodyPr wrap="square" lIns="0" tIns="0" rIns="0" bIns="0" rtlCol="0" anchor="ctr"/>
          <a:lstStyle/>
          <a:p>
            <a:pPr algn="l" indent="0" marL="0">
              <a:buNone/>
            </a:pPr>
            <a:r>
              <a:rPr lang="en-US" sz="1300" b="1" dirty="0">
                <a:solidFill>
                  <a:srgbClr val="059669"/>
                </a:solidFill>
              </a:rPr>
              <a:t>Verification: </a:t>
            </a:r>
            <a:pPr algn="l" indent="0" marL="0">
              <a:buNone/>
            </a:pPr>
            <a:r>
              <a:rPr lang="en-US" sz="1300" dirty="0">
                <a:solidFill>
                  <a:srgbClr val="0B1026"/>
                </a:solidFill>
              </a:rPr>
              <a:t>metrics returned to baseline</a:t>
            </a:r>
            <a:endParaRPr lang="en-US" sz="1300" dirty="0"/>
          </a:p>
        </p:txBody>
      </p:sp>
      <p:sp>
        <p:nvSpPr>
          <p:cNvPr id="47" name="Text 45"/>
          <p:cNvSpPr txBox="1"/>
          <p:nvPr/>
        </p:nvSpPr>
        <p:spPr>
          <a:xfrm>
            <a:off x="457200" y="5760720"/>
            <a:ext cx="4846320" cy="548640"/>
          </a:xfrm>
          <a:prstGeom prst="roundRect">
            <a:avLst>
              <a:gd name="adj" fmla="val 13333"/>
            </a:avLst>
          </a:prstGeom>
          <a:solidFill>
            <a:srgbClr val="FFFFFF"/>
          </a:solidFill>
          <a:ln w="12700">
            <a:solidFill>
              <a:srgbClr val="D6DCF0"/>
            </a:solidFill>
          </a:ln>
        </p:spPr>
        <p:txBody>
          <a:bodyPr wrap="square" lIns="127000" tIns="127000" rIns="127000" bIns="127000" rtlCol="0" anchor="ctr"/>
          <a:lstStyle/>
          <a:p>
            <a:pPr algn="l" indent="0" marL="0">
              <a:buNone/>
            </a:pPr>
            <a:r>
              <a:rPr lang="en-US" sz="1200" b="1" dirty="0">
                <a:solidFill>
                  <a:srgbClr val="4A5578"/>
                </a:solidFill>
              </a:rPr>
              <a:t>Before  </a:t>
            </a:r>
            <a:pPr algn="l" indent="0" marL="0">
              <a:buNone/>
            </a:pPr>
            <a:r>
              <a:rPr lang="en-US" sz="1200" dirty="0">
                <a:solidFill>
                  <a:srgbClr val="0B1026"/>
                </a:solidFill>
              </a:rPr>
              <a:t>Manual log-hopping, one early guess, unclear why</a:t>
            </a:r>
            <a:endParaRPr lang="en-US" sz="1200" dirty="0"/>
          </a:p>
        </p:txBody>
      </p:sp>
      <p:sp>
        <p:nvSpPr>
          <p:cNvPr id="48" name="Text 46"/>
          <p:cNvSpPr txBox="1"/>
          <p:nvPr/>
        </p:nvSpPr>
        <p:spPr>
          <a:xfrm>
            <a:off x="5440680" y="5760720"/>
            <a:ext cx="6291072" cy="548640"/>
          </a:xfrm>
          <a:prstGeom prst="roundRect">
            <a:avLst>
              <a:gd name="adj" fmla="val 13333"/>
            </a:avLst>
          </a:prstGeom>
          <a:solidFill>
            <a:srgbClr val="D1FAE5"/>
          </a:solidFill>
          <a:ln w="12700">
            <a:solidFill>
              <a:srgbClr val="059669"/>
            </a:solidFill>
          </a:ln>
        </p:spPr>
        <p:txBody>
          <a:bodyPr wrap="square" lIns="127000" tIns="127000" rIns="127000" bIns="127000" rtlCol="0" anchor="ctr"/>
          <a:lstStyle/>
          <a:p>
            <a:pPr algn="l" indent="0" marL="0">
              <a:buNone/>
            </a:pPr>
            <a:r>
              <a:rPr lang="en-US" sz="1200" b="1" dirty="0">
                <a:solidFill>
                  <a:srgbClr val="059669"/>
                </a:solidFill>
              </a:rPr>
              <a:t>After  </a:t>
            </a:r>
            <a:pPr algn="l" indent="0" marL="0">
              <a:buNone/>
            </a:pPr>
            <a:r>
              <a:rPr lang="en-US" sz="1200" dirty="0">
                <a:solidFill>
                  <a:srgbClr val="0B1026"/>
                </a:solidFill>
              </a:rPr>
              <a:t>Competing hypotheses, evidence for and against, approved fix, verified recovery</a:t>
            </a:r>
            <a:endParaRPr lang="en-US" sz="1200" dirty="0"/>
          </a:p>
        </p:txBody>
      </p:sp>
      <p:sp>
        <p:nvSpPr>
          <p:cNvPr id="25" name="Slide Number Placeholder 0"/>
          <p:cNvSpPr>
            <a:spLocks noGrp="1"/>
          </p:cNvSpPr>
          <p:nvPr>
            <p:ph type="sldNum" sz="quarter" idx="4294967295"/>
          </p:nvPr>
        </p:nvSpPr>
        <p:spPr>
          <a:xfrm>
            <a:off x="11000232" y="6492240"/>
            <a:ext cx="731520" cy="256032"/>
          </a:xfrm>
          <a:prstGeom prst="rect">
            <a:avLst/>
          </a:prstGeom>
          <a:extLst>
            <a:ext uri="{C572A759-6A51-4108-AA02-DFA0A04FC94B}">
              <ma14:wrappingTextBoxFlag xmlns:ma14="http://schemas.microsoft.com/office/mac/drawingml/2011/main" val="0"/>
            </a:ext>
          </a:extLst>
        </p:spPr>
        <p:txBody>
          <a:bodyPr anchor="ctr"/>
          <a:lstStyle>
            <a:lvl1pPr>
              <a:defRPr sz="1000">
                <a:solidFill>
                  <a:srgbClr val="4A5578"/>
                </a:solidFill>
              </a:defRPr>
            </a:lvl1pPr>
          </a:lstStyle>
          <a:p>
            <a:pPr algn="r"/>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ph idx="100" type="title" hasCustomPrompt="1"/>
          </p:nvPr>
        </p:nvSpPr>
        <p:spPr>
          <a:xfrm>
            <a:off x="457200" y="320040"/>
            <a:ext cx="11274552" cy="914400"/>
          </a:xfrm>
          <a:prstGeom prst="rect">
            <a:avLst/>
          </a:prstGeom>
          <a:noFill/>
          <a:ln/>
        </p:spPr>
        <p:txBody>
          <a:bodyPr wrap="square" lIns="0" tIns="0" rIns="0" bIns="0" rtlCol="0" anchor="b"/>
          <a:lstStyle/>
          <a:p>
            <a:pPr algn="l" indent="0" marL="0">
              <a:buNone/>
            </a:pPr>
            <a:r>
              <a:rPr lang="en-US" sz="2800" dirty="0">
                <a:solidFill>
                  <a:srgbClr val="0B1026"/>
                </a:solidFill>
                <a:latin typeface="Segoe UI Semibold" pitchFamily="34" charset="0"/>
                <a:ea typeface="Segoe UI Semibold" pitchFamily="34" charset="-122"/>
                <a:cs typeface="Segoe UI Semibold" pitchFamily="34" charset="-120"/>
              </a:rPr>
              <a:t>Faster, auditable recovery for teams that cannot afford downtime</a:t>
            </a:r>
            <a:endParaRPr lang="en-US" sz="2800" dirty="0"/>
          </a:p>
        </p:txBody>
      </p:sp>
      <p:sp>
        <p:nvSpPr>
          <p:cNvPr id="3" name="GRAD"/>
          <p:cNvSpPr/>
          <p:nvPr/>
        </p:nvSpPr>
        <p:spPr>
          <a:xfrm>
            <a:off x="457200" y="1325880"/>
            <a:ext cx="1463040" cy="45720"/>
          </a:xfrm>
          <a:prstGeom prst="rect">
            <a:avLst/>
          </a:prstGeom>
          <a:gradFill rotWithShape="1">
            <a:gsLst>
              <a:gs pos="0">
                <a:srgbClr val="2563EB"/>
              </a:gs>
              <a:gs pos="100000">
                <a:srgbClr val="7C3AED"/>
              </a:gs>
            </a:gsLst>
            <a:lin ang="0" scaled="0"/>
          </a:gradFill>
          <a:ln w="12700">
            <a:solidFill>
              <a:srgbClr val="2563EB"/>
            </a:solidFill>
            <a:prstDash val="solid"/>
          </a:ln>
        </p:spPr>
      </p:sp>
      <p:sp>
        <p:nvSpPr>
          <p:cNvPr id="4" name="Shape 2"/>
          <p:cNvSpPr/>
          <p:nvPr/>
        </p:nvSpPr>
        <p:spPr>
          <a:xfrm>
            <a:off x="457200" y="1600200"/>
            <a:ext cx="3200400" cy="1828800"/>
          </a:xfrm>
          <a:prstGeom prst="roundRect">
            <a:avLst>
              <a:gd name="adj" fmla="val 4000"/>
            </a:avLst>
          </a:prstGeom>
          <a:solidFill>
            <a:srgbClr val="FFFFFF"/>
          </a:solidFill>
          <a:ln w="12700">
            <a:solidFill>
              <a:srgbClr val="D6DCF0"/>
            </a:solidFill>
            <a:prstDash val="solid"/>
          </a:ln>
          <a:effectLst>
            <a:outerShdw sx="100000" sy="100000" kx="0" ky="0" algn="bl" rotWithShape="0" blurRad="76200" dist="12700" dir="5400000">
              <a:srgbClr val="0B1026">
                <a:alpha val="8000"/>
              </a:srgbClr>
            </a:outerShdw>
          </a:effectLst>
        </p:spPr>
      </p:sp>
      <p:sp>
        <p:nvSpPr>
          <p:cNvPr id="5" name="Shape 3"/>
          <p:cNvSpPr/>
          <p:nvPr/>
        </p:nvSpPr>
        <p:spPr>
          <a:xfrm>
            <a:off x="676656" y="1682496"/>
            <a:ext cx="566928" cy="566928"/>
          </a:xfrm>
          <a:prstGeom prst="ellipse">
            <a:avLst>
              <a:gd name="adj" fmla="val 12903"/>
            </a:avLst>
          </a:prstGeom>
          <a:solidFill>
            <a:srgbClr val="E0E7FF"/>
          </a:solidFill>
          <a:ln w="12700">
            <a:solidFill>
              <a:srgbClr val="E0E7FF"/>
            </a:solidFill>
            <a:prstDash val="solid"/>
          </a:ln>
        </p:spPr>
      </p:sp>
      <p:sp>
        <p:nvSpPr>
          <p:cNvPr id="6" name="Shape 4"/>
          <p:cNvSpPr/>
          <p:nvPr/>
        </p:nvSpPr>
        <p:spPr>
          <a:xfrm>
            <a:off x="877824" y="1783080"/>
            <a:ext cx="164592" cy="164592"/>
          </a:xfrm>
          <a:prstGeom prst="ellipse">
            <a:avLst>
              <a:gd name="adj" fmla="val 44444"/>
            </a:avLst>
          </a:prstGeom>
          <a:solidFill>
            <a:srgbClr val="2563EB"/>
          </a:solidFill>
          <a:ln w="12700">
            <a:solidFill>
              <a:srgbClr val="2563EB"/>
            </a:solidFill>
            <a:prstDash val="solid"/>
          </a:ln>
        </p:spPr>
      </p:sp>
      <p:sp>
        <p:nvSpPr>
          <p:cNvPr id="7" name="Shape 5"/>
          <p:cNvSpPr/>
          <p:nvPr/>
        </p:nvSpPr>
        <p:spPr>
          <a:xfrm>
            <a:off x="804672" y="1965960"/>
            <a:ext cx="310896" cy="182880"/>
          </a:xfrm>
          <a:prstGeom prst="roundRect">
            <a:avLst>
              <a:gd name="adj" fmla="val 40000"/>
            </a:avLst>
          </a:prstGeom>
          <a:solidFill>
            <a:srgbClr val="2563EB"/>
          </a:solidFill>
          <a:ln w="12700">
            <a:solidFill>
              <a:srgbClr val="2563EB"/>
            </a:solidFill>
            <a:prstDash val="solid"/>
          </a:ln>
        </p:spPr>
      </p:sp>
      <p:sp>
        <p:nvSpPr>
          <p:cNvPr id="8" name="Text 6"/>
          <p:cNvSpPr txBox="1"/>
          <p:nvPr/>
        </p:nvSpPr>
        <p:spPr>
          <a:xfrm>
            <a:off x="1371600" y="1783080"/>
            <a:ext cx="2103120" cy="365760"/>
          </a:xfrm>
          <a:prstGeom prst="rect">
            <a:avLst/>
          </a:prstGeom>
          <a:noFill/>
          <a:ln/>
        </p:spPr>
        <p:txBody>
          <a:bodyPr wrap="square" lIns="0" tIns="0" rIns="0" bIns="0" rtlCol="0" anchor="ctr"/>
          <a:lstStyle/>
          <a:p>
            <a:pPr algn="l" indent="0" marL="0">
              <a:buNone/>
            </a:pPr>
            <a:r>
              <a:rPr lang="en-US" sz="1500" b="1" dirty="0">
                <a:solidFill>
                  <a:srgbClr val="2563EB"/>
                </a:solidFill>
              </a:rPr>
              <a:t>Who uses it</a:t>
            </a:r>
            <a:endParaRPr lang="en-US" sz="1500" dirty="0"/>
          </a:p>
        </p:txBody>
      </p:sp>
      <p:sp>
        <p:nvSpPr>
          <p:cNvPr id="9" name="Text 7"/>
          <p:cNvSpPr txBox="1"/>
          <p:nvPr/>
        </p:nvSpPr>
        <p:spPr>
          <a:xfrm>
            <a:off x="685800" y="2423160"/>
            <a:ext cx="2743200" cy="914400"/>
          </a:xfrm>
          <a:prstGeom prst="rect">
            <a:avLst/>
          </a:prstGeom>
          <a:noFill/>
          <a:ln/>
        </p:spPr>
        <p:txBody>
          <a:bodyPr wrap="square" lIns="0" tIns="0" rIns="0" bIns="0" rtlCol="0" anchor="t"/>
          <a:lstStyle/>
          <a:p>
            <a:pPr marL="342900" indent="-342900">
              <a:spcAft>
                <a:spcPts val="500"/>
              </a:spcAft>
              <a:buSzPct val="100000"/>
              <a:buChar char="•"/>
            </a:pPr>
            <a:r>
              <a:rPr lang="en-US" sz="1300" dirty="0">
                <a:solidFill>
                  <a:srgbClr val="0B1026"/>
                </a:solidFill>
              </a:rPr>
              <a:t>On-call SREs, DevOps and platform engineers</a:t>
            </a:r>
            <a:endParaRPr lang="en-US" sz="1300" dirty="0"/>
          </a:p>
          <a:p>
            <a:pPr marL="342900" indent="-342900">
              <a:spcAft>
                <a:spcPts val="500"/>
              </a:spcAft>
              <a:buSzPct val="100000"/>
              <a:buChar char="•"/>
            </a:pPr>
            <a:r>
              <a:rPr lang="en-US" sz="1300" dirty="0">
                <a:solidFill>
                  <a:srgbClr val="0B1026"/>
                </a:solidFill>
              </a:rPr>
              <a:t>Incident commanders, engineering managers</a:t>
            </a:r>
            <a:endParaRPr lang="en-US" sz="1300" dirty="0"/>
          </a:p>
        </p:txBody>
      </p:sp>
      <p:sp>
        <p:nvSpPr>
          <p:cNvPr id="10" name="Shape 8"/>
          <p:cNvSpPr/>
          <p:nvPr/>
        </p:nvSpPr>
        <p:spPr>
          <a:xfrm>
            <a:off x="3840480" y="1600200"/>
            <a:ext cx="3383280" cy="1828800"/>
          </a:xfrm>
          <a:prstGeom prst="roundRect">
            <a:avLst>
              <a:gd name="adj" fmla="val 4000"/>
            </a:avLst>
          </a:prstGeom>
          <a:solidFill>
            <a:srgbClr val="FFFFFF"/>
          </a:solidFill>
          <a:ln w="12700">
            <a:solidFill>
              <a:srgbClr val="D6DCF0"/>
            </a:solidFill>
            <a:prstDash val="solid"/>
          </a:ln>
          <a:effectLst>
            <a:outerShdw sx="100000" sy="100000" kx="0" ky="0" algn="bl" rotWithShape="0" blurRad="76200" dist="12700" dir="5400000">
              <a:srgbClr val="0B1026">
                <a:alpha val="8000"/>
              </a:srgbClr>
            </a:outerShdw>
          </a:effectLst>
        </p:spPr>
      </p:sp>
      <p:sp>
        <p:nvSpPr>
          <p:cNvPr id="11" name="Shape 9"/>
          <p:cNvSpPr/>
          <p:nvPr/>
        </p:nvSpPr>
        <p:spPr>
          <a:xfrm>
            <a:off x="4059936" y="1682496"/>
            <a:ext cx="566928" cy="566928"/>
          </a:xfrm>
          <a:prstGeom prst="ellipse">
            <a:avLst>
              <a:gd name="adj" fmla="val 12903"/>
            </a:avLst>
          </a:prstGeom>
          <a:solidFill>
            <a:srgbClr val="E0E7FF"/>
          </a:solidFill>
          <a:ln w="12700">
            <a:solidFill>
              <a:srgbClr val="E0E7FF"/>
            </a:solidFill>
            <a:prstDash val="solid"/>
          </a:ln>
        </p:spPr>
      </p:sp>
      <p:sp>
        <p:nvSpPr>
          <p:cNvPr id="12" name="Shape 10"/>
          <p:cNvSpPr/>
          <p:nvPr/>
        </p:nvSpPr>
        <p:spPr>
          <a:xfrm>
            <a:off x="4233672" y="1975104"/>
            <a:ext cx="73152" cy="82296"/>
          </a:xfrm>
          <a:prstGeom prst="line">
            <a:avLst/>
          </a:prstGeom>
          <a:noFill/>
          <a:ln w="31750">
            <a:solidFill>
              <a:srgbClr val="2563EB"/>
            </a:solidFill>
            <a:prstDash val="solid"/>
          </a:ln>
        </p:spPr>
      </p:sp>
      <p:sp>
        <p:nvSpPr>
          <p:cNvPr id="13" name="Shape 11"/>
          <p:cNvSpPr/>
          <p:nvPr/>
        </p:nvSpPr>
        <p:spPr>
          <a:xfrm flipV="1">
            <a:off x="4306824" y="1874520"/>
            <a:ext cx="155448" cy="182880"/>
          </a:xfrm>
          <a:prstGeom prst="line">
            <a:avLst/>
          </a:prstGeom>
          <a:noFill/>
          <a:ln w="31750">
            <a:solidFill>
              <a:srgbClr val="2563EB"/>
            </a:solidFill>
            <a:prstDash val="solid"/>
          </a:ln>
        </p:spPr>
      </p:sp>
      <p:sp>
        <p:nvSpPr>
          <p:cNvPr id="14" name="Text 12"/>
          <p:cNvSpPr txBox="1"/>
          <p:nvPr/>
        </p:nvSpPr>
        <p:spPr>
          <a:xfrm>
            <a:off x="4754880" y="1783080"/>
            <a:ext cx="2286000" cy="365760"/>
          </a:xfrm>
          <a:prstGeom prst="rect">
            <a:avLst/>
          </a:prstGeom>
          <a:noFill/>
          <a:ln/>
        </p:spPr>
        <p:txBody>
          <a:bodyPr wrap="square" lIns="0" tIns="0" rIns="0" bIns="0" rtlCol="0" anchor="ctr"/>
          <a:lstStyle/>
          <a:p>
            <a:pPr algn="l" indent="0" marL="0">
              <a:buNone/>
            </a:pPr>
            <a:r>
              <a:rPr lang="en-US" sz="1500" b="1" dirty="0">
                <a:solidFill>
                  <a:srgbClr val="2563EB"/>
                </a:solidFill>
              </a:rPr>
              <a:t>Who buys it</a:t>
            </a:r>
            <a:endParaRPr lang="en-US" sz="1500" dirty="0"/>
          </a:p>
        </p:txBody>
      </p:sp>
      <p:sp>
        <p:nvSpPr>
          <p:cNvPr id="15" name="Text 13"/>
          <p:cNvSpPr txBox="1"/>
          <p:nvPr/>
        </p:nvSpPr>
        <p:spPr>
          <a:xfrm>
            <a:off x="4069080" y="2423160"/>
            <a:ext cx="2926080" cy="914400"/>
          </a:xfrm>
          <a:prstGeom prst="rect">
            <a:avLst/>
          </a:prstGeom>
          <a:noFill/>
          <a:ln/>
        </p:spPr>
        <p:txBody>
          <a:bodyPr wrap="square" lIns="0" tIns="0" rIns="0" bIns="0" rtlCol="0" anchor="t"/>
          <a:lstStyle/>
          <a:p>
            <a:pPr marL="342900" indent="-342900">
              <a:spcAft>
                <a:spcPts val="500"/>
              </a:spcAft>
              <a:buSzPct val="100000"/>
              <a:buChar char="•"/>
            </a:pPr>
            <a:r>
              <a:rPr lang="en-US" sz="1300" dirty="0">
                <a:solidFill>
                  <a:srgbClr val="0B1026"/>
                </a:solidFill>
              </a:rPr>
              <a:t>CTO, CIO, VP Engineering, Head of IT Operations</a:t>
            </a:r>
            <a:endParaRPr lang="en-US" sz="1300" dirty="0"/>
          </a:p>
          <a:p>
            <a:pPr marL="342900" indent="-342900">
              <a:spcAft>
                <a:spcPts val="500"/>
              </a:spcAft>
              <a:buSzPct val="100000"/>
              <a:buChar char="•"/>
            </a:pPr>
            <a:r>
              <a:rPr lang="en-US" sz="1300" dirty="0">
                <a:solidFill>
                  <a:srgbClr val="0B1026"/>
                </a:solidFill>
              </a:rPr>
              <a:t>Influencers: security, compliance, risk teams</a:t>
            </a:r>
            <a:endParaRPr lang="en-US" sz="1300" dirty="0"/>
          </a:p>
        </p:txBody>
      </p:sp>
      <p:sp>
        <p:nvSpPr>
          <p:cNvPr id="16" name="Shape 14"/>
          <p:cNvSpPr/>
          <p:nvPr/>
        </p:nvSpPr>
        <p:spPr>
          <a:xfrm>
            <a:off x="7406640" y="1600200"/>
            <a:ext cx="4325112" cy="1828800"/>
          </a:xfrm>
          <a:prstGeom prst="roundRect">
            <a:avLst>
              <a:gd name="adj" fmla="val 4000"/>
            </a:avLst>
          </a:prstGeom>
          <a:solidFill>
            <a:srgbClr val="FFFFFF"/>
          </a:solidFill>
          <a:ln w="12700">
            <a:solidFill>
              <a:srgbClr val="D6DCF0"/>
            </a:solidFill>
            <a:prstDash val="solid"/>
          </a:ln>
          <a:effectLst>
            <a:outerShdw sx="100000" sy="100000" kx="0" ky="0" algn="bl" rotWithShape="0" blurRad="76200" dist="12700" dir="5400000">
              <a:srgbClr val="0B1026">
                <a:alpha val="8000"/>
              </a:srgbClr>
            </a:outerShdw>
          </a:effectLst>
        </p:spPr>
      </p:sp>
      <p:sp>
        <p:nvSpPr>
          <p:cNvPr id="17" name="Shape 15"/>
          <p:cNvSpPr/>
          <p:nvPr/>
        </p:nvSpPr>
        <p:spPr>
          <a:xfrm>
            <a:off x="7626096" y="1682496"/>
            <a:ext cx="566928" cy="566928"/>
          </a:xfrm>
          <a:prstGeom prst="ellipse">
            <a:avLst>
              <a:gd name="adj" fmla="val 12903"/>
            </a:avLst>
          </a:prstGeom>
          <a:solidFill>
            <a:srgbClr val="E0E7FF"/>
          </a:solidFill>
          <a:ln w="12700">
            <a:solidFill>
              <a:srgbClr val="E0E7FF"/>
            </a:solidFill>
            <a:prstDash val="solid"/>
          </a:ln>
        </p:spPr>
      </p:sp>
      <p:sp>
        <p:nvSpPr>
          <p:cNvPr id="18" name="Shape 16"/>
          <p:cNvSpPr/>
          <p:nvPr/>
        </p:nvSpPr>
        <p:spPr>
          <a:xfrm flipH="1">
            <a:off x="7799832" y="1874520"/>
            <a:ext cx="109728" cy="173736"/>
          </a:xfrm>
          <a:prstGeom prst="line">
            <a:avLst/>
          </a:prstGeom>
          <a:noFill/>
          <a:ln w="15875">
            <a:solidFill>
              <a:srgbClr val="2563EB"/>
            </a:solidFill>
            <a:prstDash val="solid"/>
          </a:ln>
        </p:spPr>
      </p:sp>
      <p:sp>
        <p:nvSpPr>
          <p:cNvPr id="19" name="Shape 17"/>
          <p:cNvSpPr/>
          <p:nvPr/>
        </p:nvSpPr>
        <p:spPr>
          <a:xfrm>
            <a:off x="7909560" y="1874520"/>
            <a:ext cx="109728" cy="173736"/>
          </a:xfrm>
          <a:prstGeom prst="line">
            <a:avLst/>
          </a:prstGeom>
          <a:noFill/>
          <a:ln w="15875">
            <a:solidFill>
              <a:srgbClr val="2563EB"/>
            </a:solidFill>
            <a:prstDash val="solid"/>
          </a:ln>
        </p:spPr>
      </p:sp>
      <p:sp>
        <p:nvSpPr>
          <p:cNvPr id="20" name="Shape 18"/>
          <p:cNvSpPr/>
          <p:nvPr/>
        </p:nvSpPr>
        <p:spPr>
          <a:xfrm>
            <a:off x="7859268" y="1805940"/>
            <a:ext cx="100584" cy="100584"/>
          </a:xfrm>
          <a:prstGeom prst="ellipse">
            <a:avLst>
              <a:gd name="adj" fmla="val 72727"/>
            </a:avLst>
          </a:prstGeom>
          <a:solidFill>
            <a:srgbClr val="2563EB"/>
          </a:solidFill>
          <a:ln w="12700">
            <a:solidFill>
              <a:srgbClr val="2563EB"/>
            </a:solidFill>
            <a:prstDash val="solid"/>
          </a:ln>
        </p:spPr>
      </p:sp>
      <p:sp>
        <p:nvSpPr>
          <p:cNvPr id="21" name="Shape 19"/>
          <p:cNvSpPr/>
          <p:nvPr/>
        </p:nvSpPr>
        <p:spPr>
          <a:xfrm>
            <a:off x="7740396" y="2007108"/>
            <a:ext cx="100584" cy="100584"/>
          </a:xfrm>
          <a:prstGeom prst="ellipse">
            <a:avLst>
              <a:gd name="adj" fmla="val 72727"/>
            </a:avLst>
          </a:prstGeom>
          <a:solidFill>
            <a:srgbClr val="2563EB"/>
          </a:solidFill>
          <a:ln w="12700">
            <a:solidFill>
              <a:srgbClr val="2563EB"/>
            </a:solidFill>
            <a:prstDash val="solid"/>
          </a:ln>
        </p:spPr>
      </p:sp>
      <p:sp>
        <p:nvSpPr>
          <p:cNvPr id="22" name="Shape 20"/>
          <p:cNvSpPr/>
          <p:nvPr/>
        </p:nvSpPr>
        <p:spPr>
          <a:xfrm>
            <a:off x="7978140" y="2007108"/>
            <a:ext cx="100584" cy="100584"/>
          </a:xfrm>
          <a:prstGeom prst="ellipse">
            <a:avLst>
              <a:gd name="adj" fmla="val 72727"/>
            </a:avLst>
          </a:prstGeom>
          <a:solidFill>
            <a:srgbClr val="2563EB"/>
          </a:solidFill>
          <a:ln w="12700">
            <a:solidFill>
              <a:srgbClr val="2563EB"/>
            </a:solidFill>
            <a:prstDash val="solid"/>
          </a:ln>
        </p:spPr>
      </p:sp>
      <p:sp>
        <p:nvSpPr>
          <p:cNvPr id="23" name="Text 21"/>
          <p:cNvSpPr txBox="1"/>
          <p:nvPr/>
        </p:nvSpPr>
        <p:spPr>
          <a:xfrm>
            <a:off x="8321040" y="1783080"/>
            <a:ext cx="3227832" cy="365760"/>
          </a:xfrm>
          <a:prstGeom prst="rect">
            <a:avLst/>
          </a:prstGeom>
          <a:noFill/>
          <a:ln/>
        </p:spPr>
        <p:txBody>
          <a:bodyPr wrap="square" lIns="0" tIns="0" rIns="0" bIns="0" rtlCol="0" anchor="ctr"/>
          <a:lstStyle/>
          <a:p>
            <a:pPr algn="l" indent="0" marL="0">
              <a:buNone/>
            </a:pPr>
            <a:r>
              <a:rPr lang="en-US" sz="1500" b="1" dirty="0">
                <a:solidFill>
                  <a:srgbClr val="2563EB"/>
                </a:solidFill>
              </a:rPr>
              <a:t>Where it fits</a:t>
            </a:r>
            <a:endParaRPr lang="en-US" sz="1500" dirty="0"/>
          </a:p>
        </p:txBody>
      </p:sp>
      <p:sp>
        <p:nvSpPr>
          <p:cNvPr id="24" name="Text 22"/>
          <p:cNvSpPr txBox="1"/>
          <p:nvPr/>
        </p:nvSpPr>
        <p:spPr>
          <a:xfrm>
            <a:off x="7635240" y="2423160"/>
            <a:ext cx="3867912" cy="914400"/>
          </a:xfrm>
          <a:prstGeom prst="rect">
            <a:avLst/>
          </a:prstGeom>
          <a:noFill/>
          <a:ln/>
        </p:spPr>
        <p:txBody>
          <a:bodyPr wrap="square" lIns="0" tIns="0" rIns="0" bIns="0" rtlCol="0" anchor="t"/>
          <a:lstStyle/>
          <a:p>
            <a:pPr marL="342900" indent="-342900">
              <a:spcAft>
                <a:spcPts val="500"/>
              </a:spcAft>
              <a:buSzPct val="100000"/>
              <a:buChar char="•"/>
            </a:pPr>
            <a:r>
              <a:rPr lang="en-US" sz="1300" dirty="0">
                <a:solidFill>
                  <a:srgbClr val="0B1026"/>
                </a:solidFill>
              </a:rPr>
              <a:t>IT services and managed-service providers</a:t>
            </a:r>
            <a:endParaRPr lang="en-US" sz="1300" dirty="0"/>
          </a:p>
          <a:p>
            <a:pPr marL="342900" indent="-342900">
              <a:spcAft>
                <a:spcPts val="500"/>
              </a:spcAft>
              <a:buSzPct val="100000"/>
              <a:buChar char="•"/>
            </a:pPr>
            <a:r>
              <a:rPr lang="en-US" sz="1300" dirty="0">
                <a:solidFill>
                  <a:srgbClr val="0B1026"/>
                </a:solidFill>
              </a:rPr>
              <a:t>Banking, fintech, e-commerce, telecom</a:t>
            </a:r>
            <a:endParaRPr lang="en-US" sz="1300" dirty="0"/>
          </a:p>
          <a:p>
            <a:pPr marL="342900" indent="-342900">
              <a:spcAft>
                <a:spcPts val="500"/>
              </a:spcAft>
              <a:buSzPct val="100000"/>
              <a:buChar char="•"/>
            </a:pPr>
            <a:r>
              <a:rPr lang="en-US" sz="1300" dirty="0">
                <a:solidFill>
                  <a:srgbClr val="0B1026"/>
                </a:solidFill>
              </a:rPr>
              <a:t>SaaS, healthcare, large enterprises</a:t>
            </a:r>
            <a:endParaRPr lang="en-US" sz="1300" dirty="0"/>
          </a:p>
        </p:txBody>
      </p:sp>
      <p:sp>
        <p:nvSpPr>
          <p:cNvPr id="25" name="Text 23"/>
          <p:cNvSpPr txBox="1"/>
          <p:nvPr/>
        </p:nvSpPr>
        <p:spPr>
          <a:xfrm>
            <a:off x="457200" y="3703320"/>
            <a:ext cx="1463040" cy="594360"/>
          </a:xfrm>
          <a:prstGeom prst="rect">
            <a:avLst/>
          </a:prstGeom>
          <a:noFill/>
          <a:ln/>
        </p:spPr>
        <p:txBody>
          <a:bodyPr wrap="square" lIns="0" tIns="0" rIns="0" bIns="0" rtlCol="0" anchor="ctr"/>
          <a:lstStyle/>
          <a:p>
            <a:pPr algn="l" indent="0" marL="0">
              <a:buNone/>
            </a:pPr>
            <a:r>
              <a:rPr lang="en-US" sz="1500" b="1" dirty="0">
                <a:solidFill>
                  <a:srgbClr val="0B1026"/>
                </a:solidFill>
              </a:rPr>
              <a:t>Business value</a:t>
            </a:r>
            <a:endParaRPr lang="en-US" sz="1500" dirty="0"/>
          </a:p>
        </p:txBody>
      </p:sp>
      <p:sp>
        <p:nvSpPr>
          <p:cNvPr id="26" name="Text 24"/>
          <p:cNvSpPr txBox="1"/>
          <p:nvPr/>
        </p:nvSpPr>
        <p:spPr>
          <a:xfrm>
            <a:off x="2194560" y="3703320"/>
            <a:ext cx="2281428" cy="594360"/>
          </a:xfrm>
          <a:prstGeom prst="roundRect">
            <a:avLst>
              <a:gd name="adj" fmla="val 12308"/>
            </a:avLst>
          </a:prstGeom>
          <a:solidFill>
            <a:srgbClr val="EDE9FE"/>
          </a:solidFill>
          <a:ln w="12700">
            <a:solidFill>
              <a:srgbClr val="7C3AED"/>
            </a:solidFill>
          </a:ln>
        </p:spPr>
        <p:txBody>
          <a:bodyPr wrap="square" lIns="101600" tIns="101600" rIns="101600" bIns="101600" rtlCol="0" anchor="ctr"/>
          <a:lstStyle/>
          <a:p>
            <a:pPr algn="ctr" indent="0" marL="0">
              <a:buNone/>
            </a:pPr>
            <a:r>
              <a:rPr lang="en-US" sz="1300" dirty="0">
                <a:solidFill>
                  <a:srgbClr val="0B1026"/>
                </a:solidFill>
              </a:rPr>
              <a:t>Shorter investigation and recovery time</a:t>
            </a:r>
            <a:endParaRPr lang="en-US" sz="1300" dirty="0"/>
          </a:p>
        </p:txBody>
      </p:sp>
      <p:sp>
        <p:nvSpPr>
          <p:cNvPr id="27" name="Text 25"/>
          <p:cNvSpPr txBox="1"/>
          <p:nvPr/>
        </p:nvSpPr>
        <p:spPr>
          <a:xfrm>
            <a:off x="4613148" y="3703320"/>
            <a:ext cx="2281428" cy="594360"/>
          </a:xfrm>
          <a:prstGeom prst="roundRect">
            <a:avLst>
              <a:gd name="adj" fmla="val 12308"/>
            </a:avLst>
          </a:prstGeom>
          <a:solidFill>
            <a:srgbClr val="EDE9FE"/>
          </a:solidFill>
          <a:ln w="12700">
            <a:solidFill>
              <a:srgbClr val="7C3AED"/>
            </a:solidFill>
          </a:ln>
        </p:spPr>
        <p:txBody>
          <a:bodyPr wrap="square" lIns="101600" tIns="101600" rIns="101600" bIns="101600" rtlCol="0" anchor="ctr"/>
          <a:lstStyle/>
          <a:p>
            <a:pPr algn="ctr" indent="0" marL="0">
              <a:buNone/>
            </a:pPr>
            <a:r>
              <a:rPr lang="en-US" sz="1300" dirty="0">
                <a:solidFill>
                  <a:srgbClr val="0B1026"/>
                </a:solidFill>
              </a:rPr>
              <a:t>Fewer wrong conclusions</a:t>
            </a:r>
            <a:endParaRPr lang="en-US" sz="1300" dirty="0"/>
          </a:p>
        </p:txBody>
      </p:sp>
      <p:sp>
        <p:nvSpPr>
          <p:cNvPr id="28" name="Text 26"/>
          <p:cNvSpPr txBox="1"/>
          <p:nvPr/>
        </p:nvSpPr>
        <p:spPr>
          <a:xfrm>
            <a:off x="7031736" y="3703320"/>
            <a:ext cx="2281428" cy="594360"/>
          </a:xfrm>
          <a:prstGeom prst="roundRect">
            <a:avLst>
              <a:gd name="adj" fmla="val 12308"/>
            </a:avLst>
          </a:prstGeom>
          <a:solidFill>
            <a:srgbClr val="EDE9FE"/>
          </a:solidFill>
          <a:ln w="12700">
            <a:solidFill>
              <a:srgbClr val="7C3AED"/>
            </a:solidFill>
          </a:ln>
        </p:spPr>
        <p:txBody>
          <a:bodyPr wrap="square" lIns="101600" tIns="101600" rIns="101600" bIns="101600" rtlCol="0" anchor="ctr"/>
          <a:lstStyle/>
          <a:p>
            <a:pPr algn="ctr" indent="0" marL="0">
              <a:buNone/>
            </a:pPr>
            <a:r>
              <a:rPr lang="en-US" sz="1300" dirty="0">
                <a:solidFill>
                  <a:srgbClr val="0B1026"/>
                </a:solidFill>
              </a:rPr>
              <a:t>Less alert fatigue</a:t>
            </a:r>
            <a:endParaRPr lang="en-US" sz="1300" dirty="0"/>
          </a:p>
        </p:txBody>
      </p:sp>
      <p:sp>
        <p:nvSpPr>
          <p:cNvPr id="29" name="Text 27"/>
          <p:cNvSpPr txBox="1"/>
          <p:nvPr/>
        </p:nvSpPr>
        <p:spPr>
          <a:xfrm>
            <a:off x="9450324" y="3703320"/>
            <a:ext cx="2281428" cy="594360"/>
          </a:xfrm>
          <a:prstGeom prst="roundRect">
            <a:avLst>
              <a:gd name="adj" fmla="val 12308"/>
            </a:avLst>
          </a:prstGeom>
          <a:solidFill>
            <a:srgbClr val="EDE9FE"/>
          </a:solidFill>
          <a:ln w="12700">
            <a:solidFill>
              <a:srgbClr val="7C3AED"/>
            </a:solidFill>
          </a:ln>
        </p:spPr>
        <p:txBody>
          <a:bodyPr wrap="square" lIns="101600" tIns="101600" rIns="101600" bIns="101600" rtlCol="0" anchor="ctr"/>
          <a:lstStyle/>
          <a:p>
            <a:pPr algn="ctr" indent="0" marL="0">
              <a:buNone/>
            </a:pPr>
            <a:r>
              <a:rPr lang="en-US" sz="1300" dirty="0">
                <a:solidFill>
                  <a:srgbClr val="0B1026"/>
                </a:solidFill>
              </a:rPr>
              <a:t>Audit trail for every action</a:t>
            </a:r>
            <a:endParaRPr lang="en-US" sz="1300" dirty="0"/>
          </a:p>
        </p:txBody>
      </p:sp>
      <p:sp>
        <p:nvSpPr>
          <p:cNvPr id="30" name="Shape 28"/>
          <p:cNvSpPr/>
          <p:nvPr/>
        </p:nvSpPr>
        <p:spPr>
          <a:xfrm>
            <a:off x="457200" y="4526280"/>
            <a:ext cx="6583680" cy="1234440"/>
          </a:xfrm>
          <a:prstGeom prst="roundRect">
            <a:avLst>
              <a:gd name="adj" fmla="val 5926"/>
            </a:avLst>
          </a:prstGeom>
          <a:solidFill>
            <a:srgbClr val="FFFFFF"/>
          </a:solidFill>
          <a:ln w="12700">
            <a:solidFill>
              <a:srgbClr val="D6DCF0"/>
            </a:solidFill>
            <a:prstDash val="solid"/>
          </a:ln>
          <a:effectLst>
            <a:outerShdw sx="100000" sy="100000" kx="0" ky="0" algn="bl" rotWithShape="0" blurRad="76200" dist="12700" dir="5400000">
              <a:srgbClr val="0B1026">
                <a:alpha val="8000"/>
              </a:srgbClr>
            </a:outerShdw>
          </a:effectLst>
        </p:spPr>
      </p:sp>
      <p:sp>
        <p:nvSpPr>
          <p:cNvPr id="31" name="Text 29"/>
          <p:cNvSpPr txBox="1"/>
          <p:nvPr/>
        </p:nvSpPr>
        <p:spPr>
          <a:xfrm>
            <a:off x="685800" y="4599432"/>
            <a:ext cx="4572000" cy="292608"/>
          </a:xfrm>
          <a:prstGeom prst="rect">
            <a:avLst/>
          </a:prstGeom>
          <a:noFill/>
          <a:ln/>
        </p:spPr>
        <p:txBody>
          <a:bodyPr wrap="square" lIns="0" tIns="0" rIns="0" bIns="0" rtlCol="0" anchor="ctr"/>
          <a:lstStyle/>
          <a:p>
            <a:pPr algn="l" indent="0" marL="0">
              <a:buNone/>
            </a:pPr>
            <a:r>
              <a:rPr lang="en-US" sz="1500" b="1" dirty="0">
                <a:solidFill>
                  <a:srgbClr val="2563EB"/>
                </a:solidFill>
              </a:rPr>
              <a:t>How we differ</a:t>
            </a:r>
            <a:endParaRPr lang="en-US" sz="1500" dirty="0"/>
          </a:p>
        </p:txBody>
      </p:sp>
      <p:sp>
        <p:nvSpPr>
          <p:cNvPr id="32" name="Text 30"/>
          <p:cNvSpPr txBox="1"/>
          <p:nvPr/>
        </p:nvSpPr>
        <p:spPr>
          <a:xfrm>
            <a:off x="685800" y="4956048"/>
            <a:ext cx="6126480" cy="777240"/>
          </a:xfrm>
          <a:prstGeom prst="rect">
            <a:avLst/>
          </a:prstGeom>
          <a:noFill/>
          <a:ln/>
        </p:spPr>
        <p:txBody>
          <a:bodyPr wrap="square" lIns="0" tIns="0" rIns="0" bIns="0" rtlCol="0" anchor="t"/>
          <a:lstStyle/>
          <a:p>
            <a:pPr algn="l" indent="0" marL="0">
              <a:buNone/>
            </a:pPr>
            <a:r>
              <a:rPr lang="en-US" sz="1400" dirty="0">
                <a:solidFill>
                  <a:srgbClr val="0B1026"/>
                </a:solidFill>
              </a:rPr>
              <a:t>Beyond alert correlation: competing hypotheses, evidence for and against, adapts when wrong, and a human stays in control.</a:t>
            </a:r>
            <a:endParaRPr lang="en-US" sz="1400" dirty="0"/>
          </a:p>
        </p:txBody>
      </p:sp>
      <p:sp>
        <p:nvSpPr>
          <p:cNvPr id="33" name="Shape 31"/>
          <p:cNvSpPr/>
          <p:nvPr/>
        </p:nvSpPr>
        <p:spPr>
          <a:xfrm>
            <a:off x="7223760" y="4526280"/>
            <a:ext cx="4507992" cy="1234440"/>
          </a:xfrm>
          <a:prstGeom prst="roundRect">
            <a:avLst>
              <a:gd name="adj" fmla="val 5926"/>
            </a:avLst>
          </a:prstGeom>
          <a:solidFill>
            <a:srgbClr val="FFFFFF"/>
          </a:solidFill>
          <a:ln w="12700">
            <a:solidFill>
              <a:srgbClr val="D6DCF0"/>
            </a:solidFill>
            <a:prstDash val="solid"/>
          </a:ln>
          <a:effectLst>
            <a:outerShdw sx="100000" sy="100000" kx="0" ky="0" algn="bl" rotWithShape="0" blurRad="76200" dist="12700" dir="5400000">
              <a:srgbClr val="0B1026">
                <a:alpha val="8000"/>
              </a:srgbClr>
            </a:outerShdw>
          </a:effectLst>
        </p:spPr>
      </p:sp>
      <p:sp>
        <p:nvSpPr>
          <p:cNvPr id="34" name="Text 32"/>
          <p:cNvSpPr txBox="1"/>
          <p:nvPr/>
        </p:nvSpPr>
        <p:spPr>
          <a:xfrm>
            <a:off x="7452360" y="4599432"/>
            <a:ext cx="4023360" cy="292608"/>
          </a:xfrm>
          <a:prstGeom prst="rect">
            <a:avLst/>
          </a:prstGeom>
          <a:noFill/>
          <a:ln/>
        </p:spPr>
        <p:txBody>
          <a:bodyPr wrap="square" lIns="0" tIns="0" rIns="0" bIns="0" rtlCol="0" anchor="ctr"/>
          <a:lstStyle/>
          <a:p>
            <a:pPr algn="l" indent="0" marL="0">
              <a:buNone/>
            </a:pPr>
            <a:r>
              <a:rPr lang="en-US" sz="1500" b="1" dirty="0">
                <a:solidFill>
                  <a:srgbClr val="2563EB"/>
                </a:solidFill>
              </a:rPr>
              <a:t>Simple impact model</a:t>
            </a:r>
            <a:endParaRPr lang="en-US" sz="1500" dirty="0"/>
          </a:p>
        </p:txBody>
      </p:sp>
      <p:sp>
        <p:nvSpPr>
          <p:cNvPr id="35" name="Text 33"/>
          <p:cNvSpPr txBox="1"/>
          <p:nvPr/>
        </p:nvSpPr>
        <p:spPr>
          <a:xfrm>
            <a:off x="7452360" y="4956048"/>
            <a:ext cx="4069080" cy="777240"/>
          </a:xfrm>
          <a:prstGeom prst="rect">
            <a:avLst/>
          </a:prstGeom>
          <a:noFill/>
          <a:ln/>
        </p:spPr>
        <p:txBody>
          <a:bodyPr wrap="square" lIns="0" tIns="0" rIns="0" bIns="0" rtlCol="0" anchor="t"/>
          <a:lstStyle/>
          <a:p>
            <a:pPr algn="l" indent="0" marL="0">
              <a:spcAft>
                <a:spcPts val="300"/>
              </a:spcAft>
              <a:buNone/>
            </a:pPr>
            <a:r>
              <a:rPr lang="en-US" sz="1300" b="1" dirty="0">
                <a:solidFill>
                  <a:srgbClr val="0B1026"/>
                </a:solidFill>
              </a:rPr>
              <a:t>Value = incidents per month x minutes saved per incident x cost per minute of downtime</a:t>
            </a:r>
            <a:endParaRPr lang="en-US" sz="1300" dirty="0"/>
          </a:p>
          <a:p>
            <a:pPr algn="l" indent="0" marL="0">
              <a:spcAft>
                <a:spcPts val="300"/>
              </a:spcAft>
              <a:buNone/>
            </a:pPr>
            <a:r>
              <a:rPr lang="en-US" sz="1300" i="1" dirty="0">
                <a:solidFill>
                  <a:srgbClr val="4A5578"/>
                </a:solidFill>
              </a:rPr>
              <a:t>Inputs are customer-specific.</a:t>
            </a:r>
            <a:endParaRPr lang="en-US" sz="1300" dirty="0"/>
          </a:p>
        </p:txBody>
      </p:sp>
      <p:sp>
        <p:nvSpPr>
          <p:cNvPr id="36" name="GRAD"/>
          <p:cNvSpPr/>
          <p:nvPr/>
        </p:nvSpPr>
        <p:spPr>
          <a:xfrm>
            <a:off x="457200" y="5925312"/>
            <a:ext cx="11274552" cy="438912"/>
          </a:xfrm>
          <a:prstGeom prst="roundRect">
            <a:avLst>
              <a:gd name="adj" fmla="val 20833"/>
            </a:avLst>
          </a:prstGeom>
          <a:gradFill rotWithShape="1">
            <a:gsLst>
              <a:gs pos="0">
                <a:srgbClr val="2563EB"/>
              </a:gs>
              <a:gs pos="100000">
                <a:srgbClr val="7C3AED"/>
              </a:gs>
            </a:gsLst>
            <a:lin ang="0" scaled="0"/>
          </a:gradFill>
          <a:ln w="12700">
            <a:solidFill>
              <a:srgbClr val="2563EB"/>
            </a:solidFill>
            <a:prstDash val="solid"/>
          </a:ln>
        </p:spPr>
      </p:sp>
      <p:sp>
        <p:nvSpPr>
          <p:cNvPr id="37" name="Text 35"/>
          <p:cNvSpPr txBox="1"/>
          <p:nvPr/>
        </p:nvSpPr>
        <p:spPr>
          <a:xfrm>
            <a:off x="685800" y="5925312"/>
            <a:ext cx="7772400" cy="438912"/>
          </a:xfrm>
          <a:prstGeom prst="rect">
            <a:avLst/>
          </a:prstGeom>
          <a:noFill/>
          <a:ln/>
        </p:spPr>
        <p:txBody>
          <a:bodyPr wrap="square" lIns="0" tIns="0" rIns="0" bIns="0" rtlCol="0" anchor="ctr"/>
          <a:lstStyle/>
          <a:p>
            <a:pPr algn="l" indent="0" marL="0">
              <a:buNone/>
            </a:pPr>
            <a:r>
              <a:rPr lang="en-US" sz="1500" b="1" dirty="0">
                <a:solidFill>
                  <a:srgbClr val="FFFFFF"/>
                </a:solidFill>
              </a:rPr>
              <a:t>Not another alert. An investigator that shows its work.</a:t>
            </a:r>
            <a:endParaRPr lang="en-US" sz="1500" dirty="0"/>
          </a:p>
        </p:txBody>
      </p:sp>
      <p:sp>
        <p:nvSpPr>
          <p:cNvPr id="38" name="Text 36"/>
          <p:cNvSpPr txBox="1"/>
          <p:nvPr/>
        </p:nvSpPr>
        <p:spPr>
          <a:xfrm>
            <a:off x="8686800" y="5925312"/>
            <a:ext cx="2834640" cy="438912"/>
          </a:xfrm>
          <a:prstGeom prst="rect">
            <a:avLst/>
          </a:prstGeom>
          <a:noFill/>
          <a:ln/>
        </p:spPr>
        <p:txBody>
          <a:bodyPr wrap="square" lIns="0" tIns="0" rIns="0" bIns="0" rtlCol="0" anchor="ctr"/>
          <a:lstStyle/>
          <a:p>
            <a:pPr algn="r" indent="0" marL="0">
              <a:buNone/>
            </a:pPr>
            <a:r>
              <a:rPr lang="en-US" sz="1400" b="1" dirty="0">
                <a:solidFill>
                  <a:srgbClr val="FFFFFF"/>
                </a:solidFill>
              </a:rPr>
              <a:t>D365</a:t>
            </a:r>
            <a:endParaRPr lang="en-US" sz="1400" dirty="0"/>
          </a:p>
        </p:txBody>
      </p:sp>
      <p:sp>
        <p:nvSpPr>
          <p:cNvPr id="25" name="Slide Number Placeholder 0"/>
          <p:cNvSpPr>
            <a:spLocks noGrp="1"/>
          </p:cNvSpPr>
          <p:nvPr>
            <p:ph type="sldNum" sz="quarter" idx="4294967295"/>
          </p:nvPr>
        </p:nvSpPr>
        <p:spPr>
          <a:xfrm>
            <a:off x="11000232" y="6492240"/>
            <a:ext cx="731520" cy="256032"/>
          </a:xfrm>
          <a:prstGeom prst="rect">
            <a:avLst/>
          </a:prstGeom>
          <a:extLst>
            <a:ext uri="{C572A759-6A51-4108-AA02-DFA0A04FC94B}">
              <ma14:wrappingTextBoxFlag xmlns:ma14="http://schemas.microsoft.com/office/mac/drawingml/2011/main" val="0"/>
            </a:ext>
          </a:extLst>
        </p:spPr>
        <p:txBody>
          <a:bodyPr anchor="ctr"/>
          <a:lstStyle>
            <a:lvl1pPr>
              <a:defRPr sz="1000">
                <a:solidFill>
                  <a:srgbClr val="4A5578"/>
                </a:solidFill>
              </a:defRPr>
            </a:lvl1pPr>
          </a:lstStyle>
          <a:p>
            <a:pPr algn="r"/>
            <a:fld id="{F7021451-1387-4CA6-816F-3879F97B5CBC}" type="slidenum">
              <a:rPr b="0" lang="en-US"/>
              <a:t>5</a:t>
            </a:fld>
            <a:endParaRPr lang="en-US"/>
          </a:p>
        </p:txBody>
      </p:sp>
    </p:spTree>
  </p:cSld>
  <p:clrMapOvr>
    <a:masterClrMapping/>
  </p:clrMapOvr>
</p:sld>
</file>

<file path=ppt/theme/theme1.xml><?xml version="1.0" encoding="utf-8"?>
<a:theme xmlns:a="http://schemas.openxmlformats.org/drawingml/2006/main" name="TechLight">
  <a:themeElements>
    <a:clrScheme name="TechLight">
      <a:dk1>
        <a:srgbClr val="0B1026"/>
      </a:dk1>
      <a:lt1>
        <a:srgbClr val="FFFFFF"/>
      </a:lt1>
      <a:dk2>
        <a:srgbClr val="4A5578"/>
      </a:dk2>
      <a:lt2>
        <a:srgbClr val="F7F9FC"/>
      </a:lt2>
      <a:accent1>
        <a:srgbClr val="2563EB"/>
      </a:accent1>
      <a:accent2>
        <a:srgbClr val="7C3AED"/>
      </a:accent2>
      <a:accent3>
        <a:srgbClr val="0891B2"/>
      </a:accent3>
      <a:accent4>
        <a:srgbClr val="D97706"/>
      </a:accent4>
      <a:accent5>
        <a:srgbClr val="059669"/>
      </a:accent5>
      <a:accent6>
        <a:srgbClr val="DC2626"/>
      </a:accent6>
      <a:hlink>
        <a:srgbClr val="2563EB"/>
      </a:hlink>
      <a:folHlink>
        <a:srgbClr val="7C3AED"/>
      </a:folHlink>
    </a:clrScheme>
    <a:fontScheme name="TechLight">
      <a:majorFont>
        <a:latin typeface="Segoe UI Semibold"/>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Segoe U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5</Slides>
  <Notes>5</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5</vt:i4>
      </vt:variant>
    </vt:vector>
  </HeadingPairs>
  <TitlesOfParts>
    <vt:vector size="8" baseType="lpstr">
      <vt:lpstr>Arial</vt:lpstr>
      <vt:lpstr>Calibri</vt:lpstr>
      <vt:lpstr>Office Theme</vt:lpstr>
      <vt:lpstr>Slide 1</vt:lpstr>
      <vt:lpstr>Slide 2</vt:lpstr>
      <vt:lpstr>Slide 3</vt:lpstr>
      <vt:lpstr>Slide 4</vt:lpstr>
      <vt:lpstr>Slide 5</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2026-10-31T07:22:09Z</dcterms:created>
  <dcterms:modified xsi:type="dcterms:W3CDTF">2026-10-31T07:22:09Z</dcterms:modified>
</cp:coreProperties>
</file>